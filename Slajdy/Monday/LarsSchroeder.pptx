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81" r:id="rId2"/>
    <p:sldId id="313" r:id="rId3"/>
    <p:sldId id="276" r:id="rId4"/>
    <p:sldId id="283" r:id="rId5"/>
    <p:sldId id="284" r:id="rId6"/>
    <p:sldId id="282" r:id="rId7"/>
    <p:sldId id="274" r:id="rId8"/>
    <p:sldId id="290" r:id="rId9"/>
    <p:sldId id="286" r:id="rId10"/>
    <p:sldId id="325" r:id="rId11"/>
    <p:sldId id="332" r:id="rId12"/>
    <p:sldId id="331" r:id="rId13"/>
    <p:sldId id="328" r:id="rId14"/>
    <p:sldId id="334" r:id="rId15"/>
    <p:sldId id="333" r:id="rId16"/>
    <p:sldId id="329" r:id="rId17"/>
    <p:sldId id="342" r:id="rId18"/>
    <p:sldId id="341" r:id="rId19"/>
    <p:sldId id="34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50"/>
    <a:srgbClr val="FF2640"/>
    <a:srgbClr val="FFC2CA"/>
    <a:srgbClr val="26457C"/>
    <a:srgbClr val="1F78B4"/>
    <a:srgbClr val="0000FF"/>
    <a:srgbClr val="1672B1"/>
    <a:srgbClr val="767171"/>
    <a:srgbClr val="D0CECE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62603E-2FEB-4B52-BD31-C062FFAF9513}" v="396" dt="2026-05-16T13:12:37.270"/>
    <p1510:client id="{9C3DC86E-93C4-4CD5-B986-6AEABB808A14}" v="1" dt="2026-05-16T19:28:32.80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74" d="100"/>
          <a:sy n="74" d="100"/>
        </p:scale>
        <p:origin x="37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DB08D-C083-B232-4B67-C81D48DC0C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03C8378-B40F-59A0-4CBB-08E10C243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5DFCB-D45C-5019-55FB-57E241764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5443D-CE02-E383-1C8A-9A87EF0E8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D35CF-CD9D-673E-E0C0-F37087564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23107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1E03-C531-CAC2-CA71-C60A49C33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F1CF3-26F5-F941-02B3-9ACD62F1AC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1BD118-663E-3A20-B154-9C42412BA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D7E0AA-38D4-93DA-09D0-FA9B84F6FF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8C7834-C3F4-C402-5C67-E49EBE392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439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7F0AF-8AC8-0F5B-2576-A1B896C1A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888575-283F-5E65-2061-1573F85F7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ECD45-3AB4-63FA-64A7-638BACA95F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6572CE-2518-15C6-17D3-F21544393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A0B699-9C11-AD37-3BC6-53B8A7C5B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0950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12071-1934-69A4-F3CA-493E09123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59B38-8A06-72EB-E5F8-DA8AB84C68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D62F4F-F3DC-2D2E-62BF-1E73E2488F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981ABC-88E0-21EB-8284-CD548C96CE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F8CE22-6045-58B4-4A1D-77E078716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0010B-07A2-814C-27C1-20F865106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9022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99AD4-0204-8B6A-4456-1006A7756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550BB0-B8AC-027F-7AD9-631AA248B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C265E7-35E3-D467-8D57-C076E6B752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03A08D-FC77-7DCD-51F9-D0C76F23C6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C8953C-FE82-FC59-D5AD-140248020E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8A7067-0D13-FA90-F1E3-97A9D354E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F4442D3-2613-677F-6925-79C3D09D20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EFCD9D5-E84F-C936-B7D0-B26FEFCED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1986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23419-D497-6D78-2395-70C037B1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C88750-09DC-96EE-DC7C-84E7547FA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0B73655-03E6-1610-694F-37B077883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A7615F-0247-1936-B48E-F0C3E0A13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3768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D35562-A93D-3D2E-C2D6-38B26186B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07482E-7EC6-8D80-8E8C-F0EEE1EB6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1AD90C-9172-A287-487D-3F3DBE6D3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8520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E2C85-AE92-C80A-0ACB-5D783FEE5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557F5-3848-8DD1-3577-2A04081936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598FBA-85CD-943C-CA2A-02765F6E7C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A3484-4A1E-0E2F-EFA3-F6988869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2ED3F2-29D4-27BA-6425-5D0D7E64B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237D28-A03D-6906-F582-A00B25B2C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3186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43DED-0870-638A-A4F5-45E0FC15C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F4A368-7095-D187-D181-CD2645B98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E3925-5252-5C7F-CCE4-263373E976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EA9E92-B62D-9292-2F6B-0C3D7EF24C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5C1188-5828-E839-80B8-AB21E3A007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0DAA8B-133B-496F-E1CD-A3FE569E4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53018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8F75C-24EE-2CBB-DAB6-E57ED119D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BC6E-10E0-9C73-42AC-403FF442C3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010651-B84F-0F3D-4673-883ADF6D4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19FE31-BA24-B059-B3D8-BC16781C2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9BFB6-8717-AD72-76DC-0DB7A7C49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5808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9B08FE-88C0-F03C-263E-3F8C9DC576A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A6C416-0568-AB33-7CA4-4CAF7AF96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850A2-69C7-B9DB-E605-8D14C2A83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F4B38-98F3-DC54-C01E-34A2100D5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CE281C-2C96-C74F-34C8-9DB54EC4F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7499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483674-CDE9-E104-24C2-123D17F31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A1ABE-A401-8231-7C29-2F81D98993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5DF6C-FB16-5F45-244E-9DA73799050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78484-E2CE-4D87-A06F-FA37764D0E51}" type="datetimeFigureOut">
              <a:rPr lang="en-GB" smtClean="0"/>
              <a:t>18/05/2026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EE29F-309F-75DE-7CB2-BE8DD1961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523BC-6A32-4F99-2C1D-6DDC8D692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5C49E-0B27-4139-81D4-7B873998108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6115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11" Type="http://schemas.openxmlformats.org/officeDocument/2006/relationships/image" Target="../media/image7.svg"/><Relationship Id="rId5" Type="http://schemas.openxmlformats.org/officeDocument/2006/relationships/image" Target="../media/image2.png"/><Relationship Id="rId10" Type="http://schemas.openxmlformats.org/officeDocument/2006/relationships/image" Target="../media/image6.png"/><Relationship Id="rId9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6" Type="http://schemas.openxmlformats.org/officeDocument/2006/relationships/image" Target="../media/image16.png"/><Relationship Id="rId5" Type="http://schemas.openxmlformats.org/officeDocument/2006/relationships/image" Target="../media/image150.png"/><Relationship Id="rId4" Type="http://schemas.openxmlformats.org/officeDocument/2006/relationships/image" Target="../media/image140.png"/><Relationship Id="rId9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6" Type="http://schemas.openxmlformats.org/officeDocument/2006/relationships/image" Target="../media/image6.png"/><Relationship Id="rId5" Type="http://schemas.openxmlformats.org/officeDocument/2006/relationships/image" Target="../media/image1.png"/><Relationship Id="rId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7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2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tags" Target="../tags/tag13.xml"/><Relationship Id="rId7" Type="http://schemas.openxmlformats.org/officeDocument/2006/relationships/image" Target="../media/image13.png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emf"/><Relationship Id="rId13" Type="http://schemas.openxmlformats.org/officeDocument/2006/relationships/image" Target="../media/image790.png"/><Relationship Id="rId3" Type="http://schemas.openxmlformats.org/officeDocument/2006/relationships/tags" Target="../tags/tag16.xml"/><Relationship Id="rId7" Type="http://schemas.openxmlformats.org/officeDocument/2006/relationships/oleObject" Target="../embeddings/oleObject2.bin"/><Relationship Id="rId12" Type="http://schemas.openxmlformats.org/officeDocument/2006/relationships/image" Target="../media/image78.png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image" Target="../media/image15.emf"/><Relationship Id="rId11" Type="http://schemas.openxmlformats.org/officeDocument/2006/relationships/image" Target="../media/image29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28.png"/><Relationship Id="rId4" Type="http://schemas.openxmlformats.org/officeDocument/2006/relationships/slideLayout" Target="../slideLayouts/slideLayout2.xml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32.png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14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tags" Target="../tags/tag30.xml"/><Relationship Id="rId7" Type="http://schemas.openxmlformats.org/officeDocument/2006/relationships/image" Target="../media/image43.png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9B549-0AFF-CD23-384C-E4FE05E65A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-20529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de-DE" dirty="0">
                <a:solidFill>
                  <a:srgbClr val="26457C"/>
                </a:solidFill>
              </a:rPr>
              <a:t>node2vec </a:t>
            </a:r>
            <a:r>
              <a:rPr lang="de-DE" dirty="0" err="1">
                <a:solidFill>
                  <a:srgbClr val="26457C"/>
                </a:solidFill>
              </a:rPr>
              <a:t>random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walks</a:t>
            </a:r>
            <a:r>
              <a:rPr lang="de-DE" dirty="0">
                <a:solidFill>
                  <a:srgbClr val="26457C"/>
                </a:solidFill>
              </a:rPr>
              <a:t>: Regular </a:t>
            </a:r>
            <a:r>
              <a:rPr lang="de-DE" dirty="0" err="1">
                <a:solidFill>
                  <a:srgbClr val="26457C"/>
                </a:solidFill>
              </a:rPr>
              <a:t>graphs</a:t>
            </a:r>
            <a:r>
              <a:rPr lang="de-DE" dirty="0">
                <a:solidFill>
                  <a:srgbClr val="26457C"/>
                </a:solidFill>
              </a:rPr>
              <a:t> and </a:t>
            </a:r>
            <a:r>
              <a:rPr lang="de-DE" dirty="0" err="1">
                <a:solidFill>
                  <a:srgbClr val="26457C"/>
                </a:solidFill>
              </a:rPr>
              <a:t>recurrence</a:t>
            </a:r>
            <a:endParaRPr lang="en-GB" dirty="0">
              <a:solidFill>
                <a:srgbClr val="26457C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F12A78-E42C-0722-DB35-BBC80E4F81A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87205"/>
            <a:ext cx="9144000" cy="1655762"/>
          </a:xfrm>
        </p:spPr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Lars Schroeder</a:t>
            </a:r>
          </a:p>
          <a:p>
            <a:r>
              <a:rPr lang="de-DE" dirty="0">
                <a:solidFill>
                  <a:srgbClr val="26457C"/>
                </a:solidFill>
              </a:rPr>
              <a:t>Joint </a:t>
            </a:r>
            <a:r>
              <a:rPr lang="de-DE" dirty="0" err="1">
                <a:solidFill>
                  <a:srgbClr val="26457C"/>
                </a:solidFill>
              </a:rPr>
              <a:t>work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with</a:t>
            </a:r>
            <a:r>
              <a:rPr lang="de-DE" dirty="0">
                <a:solidFill>
                  <a:srgbClr val="26457C"/>
                </a:solidFill>
              </a:rPr>
              <a:t> Clara Stegehuis, Gianmarco Bet and Luca Avena</a:t>
            </a:r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F68468B-F40E-10E2-0526-ACFB05862FD4}"/>
              </a:ext>
            </a:extLst>
          </p:cNvPr>
          <p:cNvSpPr/>
          <p:nvPr/>
        </p:nvSpPr>
        <p:spPr>
          <a:xfrm rot="21147049">
            <a:off x="1160945" y="3504441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6F39531-B75B-DD5A-A419-1E1C31CE2FE0}"/>
              </a:ext>
            </a:extLst>
          </p:cNvPr>
          <p:cNvSpPr/>
          <p:nvPr/>
        </p:nvSpPr>
        <p:spPr>
          <a:xfrm rot="20754993">
            <a:off x="582269" y="5995184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lowchart: Connector 8">
            <a:extLst>
              <a:ext uri="{FF2B5EF4-FFF2-40B4-BE49-F238E27FC236}">
                <a16:creationId xmlns:a16="http://schemas.microsoft.com/office/drawing/2014/main" id="{C89143EB-ADBF-077D-F41C-BB2C28C3B407}"/>
              </a:ext>
            </a:extLst>
          </p:cNvPr>
          <p:cNvSpPr/>
          <p:nvPr/>
        </p:nvSpPr>
        <p:spPr>
          <a:xfrm>
            <a:off x="4047866" y="3796960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ADE418DC-D4AF-832E-62E0-40EAA1602FC5}"/>
              </a:ext>
            </a:extLst>
          </p:cNvPr>
          <p:cNvSpPr/>
          <p:nvPr/>
        </p:nvSpPr>
        <p:spPr>
          <a:xfrm>
            <a:off x="2786855" y="4978412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Flowchart: Connector 10">
            <a:extLst>
              <a:ext uri="{FF2B5EF4-FFF2-40B4-BE49-F238E27FC236}">
                <a16:creationId xmlns:a16="http://schemas.microsoft.com/office/drawing/2014/main" id="{6A501A71-DA41-8140-B722-18F525F531DB}"/>
              </a:ext>
            </a:extLst>
          </p:cNvPr>
          <p:cNvSpPr/>
          <p:nvPr/>
        </p:nvSpPr>
        <p:spPr>
          <a:xfrm rot="21017207">
            <a:off x="4150113" y="5995184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566AEE0-A64C-4BA8-3D38-5788F922AD05}"/>
              </a:ext>
            </a:extLst>
          </p:cNvPr>
          <p:cNvCxnSpPr>
            <a:cxnSpLocks/>
            <a:stCxn id="8" idx="6"/>
            <a:endCxn id="10" idx="3"/>
          </p:cNvCxnSpPr>
          <p:nvPr/>
        </p:nvCxnSpPr>
        <p:spPr>
          <a:xfrm flipV="1">
            <a:off x="1032598" y="5368657"/>
            <a:ext cx="1821212" cy="799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F19FF5B-2FCC-DC9C-35C6-06BDC04C0614}"/>
              </a:ext>
            </a:extLst>
          </p:cNvPr>
          <p:cNvCxnSpPr>
            <a:cxnSpLocks/>
            <a:stCxn id="7" idx="5"/>
            <a:endCxn id="10" idx="1"/>
          </p:cNvCxnSpPr>
          <p:nvPr/>
        </p:nvCxnSpPr>
        <p:spPr>
          <a:xfrm>
            <a:off x="1571025" y="3872048"/>
            <a:ext cx="1282785" cy="11733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C2D576-9539-F514-F8B6-C9810E2573D6}"/>
              </a:ext>
            </a:extLst>
          </p:cNvPr>
          <p:cNvCxnSpPr>
            <a:cxnSpLocks/>
            <a:stCxn id="10" idx="7"/>
            <a:endCxn id="9" idx="3"/>
          </p:cNvCxnSpPr>
          <p:nvPr/>
        </p:nvCxnSpPr>
        <p:spPr>
          <a:xfrm flipV="1">
            <a:off x="3177100" y="4187205"/>
            <a:ext cx="937721" cy="8581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0096568-7C37-EFE0-AA5F-8766B17D7EAB}"/>
              </a:ext>
            </a:extLst>
          </p:cNvPr>
          <p:cNvCxnSpPr>
            <a:cxnSpLocks/>
            <a:stCxn id="10" idx="5"/>
            <a:endCxn id="11" idx="1"/>
          </p:cNvCxnSpPr>
          <p:nvPr/>
        </p:nvCxnSpPr>
        <p:spPr>
          <a:xfrm>
            <a:off x="3177100" y="5368657"/>
            <a:ext cx="1015013" cy="7230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B2733C48-CA14-C39E-6B0E-0F55AE179BB8}"/>
              </a:ext>
            </a:extLst>
          </p:cNvPr>
          <p:cNvCxnSpPr>
            <a:cxnSpLocks/>
            <a:stCxn id="8" idx="0"/>
            <a:endCxn id="7" idx="3"/>
          </p:cNvCxnSpPr>
          <p:nvPr/>
        </p:nvCxnSpPr>
        <p:spPr>
          <a:xfrm flipV="1">
            <a:off x="755243" y="3914521"/>
            <a:ext cx="495295" cy="20875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21788CF-B0E4-3293-6A4D-32AEC368DE64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1311202" y="3044862"/>
            <a:ext cx="48310" cy="4615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F86801A-8685-E8E3-1977-5D2BE1125459}"/>
              </a:ext>
            </a:extLst>
          </p:cNvPr>
          <p:cNvCxnSpPr>
            <a:cxnSpLocks/>
            <a:stCxn id="7" idx="1"/>
          </p:cNvCxnSpPr>
          <p:nvPr/>
        </p:nvCxnSpPr>
        <p:spPr>
          <a:xfrm flipH="1" flipV="1">
            <a:off x="810869" y="3348806"/>
            <a:ext cx="397196" cy="2452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592FCA-8901-2288-56F5-B0682B346407}"/>
              </a:ext>
            </a:extLst>
          </p:cNvPr>
          <p:cNvCxnSpPr>
            <a:cxnSpLocks/>
          </p:cNvCxnSpPr>
          <p:nvPr/>
        </p:nvCxnSpPr>
        <p:spPr>
          <a:xfrm flipH="1" flipV="1">
            <a:off x="4149936" y="3373642"/>
            <a:ext cx="84353" cy="44078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B2686E-B455-DE5F-A851-80B35EF81E89}"/>
              </a:ext>
            </a:extLst>
          </p:cNvPr>
          <p:cNvCxnSpPr>
            <a:cxnSpLocks/>
          </p:cNvCxnSpPr>
          <p:nvPr/>
        </p:nvCxnSpPr>
        <p:spPr>
          <a:xfrm flipV="1">
            <a:off x="4470902" y="3580065"/>
            <a:ext cx="320766" cy="3059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1F4B5ED-0A09-8CA9-68E6-06FEC1380A34}"/>
              </a:ext>
            </a:extLst>
          </p:cNvPr>
          <p:cNvCxnSpPr>
            <a:cxnSpLocks/>
          </p:cNvCxnSpPr>
          <p:nvPr/>
        </p:nvCxnSpPr>
        <p:spPr>
          <a:xfrm flipV="1">
            <a:off x="1552845" y="3166694"/>
            <a:ext cx="211658" cy="4054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7ECDFB4F-B281-C17D-0E55-0465FD71638D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91205" y="6279410"/>
            <a:ext cx="397935" cy="16077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1833AE9-644C-6DB2-6411-BC4F5DC59BDA}"/>
              </a:ext>
            </a:extLst>
          </p:cNvPr>
          <p:cNvCxnSpPr>
            <a:cxnSpLocks/>
          </p:cNvCxnSpPr>
          <p:nvPr/>
        </p:nvCxnSpPr>
        <p:spPr>
          <a:xfrm flipH="1" flipV="1">
            <a:off x="831349" y="6440187"/>
            <a:ext cx="74411" cy="4178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Arrow: Left 23">
            <a:extLst>
              <a:ext uri="{FF2B5EF4-FFF2-40B4-BE49-F238E27FC236}">
                <a16:creationId xmlns:a16="http://schemas.microsoft.com/office/drawing/2014/main" id="{13B005F8-43AE-00BD-C16A-B74824C4FD96}"/>
              </a:ext>
            </a:extLst>
          </p:cNvPr>
          <p:cNvSpPr/>
          <p:nvPr/>
        </p:nvSpPr>
        <p:spPr>
          <a:xfrm rot="20147751">
            <a:off x="989699" y="5567213"/>
            <a:ext cx="1720917" cy="16644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Arrow: Left 25">
            <a:extLst>
              <a:ext uri="{FF2B5EF4-FFF2-40B4-BE49-F238E27FC236}">
                <a16:creationId xmlns:a16="http://schemas.microsoft.com/office/drawing/2014/main" id="{9989E48B-D039-A445-8AEC-B6DB082FBC5B}"/>
              </a:ext>
            </a:extLst>
          </p:cNvPr>
          <p:cNvSpPr/>
          <p:nvPr/>
        </p:nvSpPr>
        <p:spPr>
          <a:xfrm rot="2557016">
            <a:off x="1476597" y="4290513"/>
            <a:ext cx="1656000" cy="166445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Arrow: Left 26">
            <a:extLst>
              <a:ext uri="{FF2B5EF4-FFF2-40B4-BE49-F238E27FC236}">
                <a16:creationId xmlns:a16="http://schemas.microsoft.com/office/drawing/2014/main" id="{943A5A94-ECDD-BD63-2755-4E23668FCAC4}"/>
              </a:ext>
            </a:extLst>
          </p:cNvPr>
          <p:cNvSpPr/>
          <p:nvPr/>
        </p:nvSpPr>
        <p:spPr>
          <a:xfrm rot="8270901">
            <a:off x="3167264" y="4606485"/>
            <a:ext cx="1188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Arrow: Left 27">
            <a:extLst>
              <a:ext uri="{FF2B5EF4-FFF2-40B4-BE49-F238E27FC236}">
                <a16:creationId xmlns:a16="http://schemas.microsoft.com/office/drawing/2014/main" id="{23DAC0F0-7F23-CB71-9601-AA1479E4946A}"/>
              </a:ext>
            </a:extLst>
          </p:cNvPr>
          <p:cNvSpPr/>
          <p:nvPr/>
        </p:nvSpPr>
        <p:spPr>
          <a:xfrm rot="12957092">
            <a:off x="3017042" y="5741058"/>
            <a:ext cx="1188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A06AA9-F23D-26C2-2E7D-2657B439F2ED}"/>
                  </a:ext>
                </a:extLst>
              </p:cNvPr>
              <p:cNvSpPr txBox="1"/>
              <p:nvPr/>
            </p:nvSpPr>
            <p:spPr>
              <a:xfrm>
                <a:off x="1673574" y="5238744"/>
                <a:ext cx="1977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EA06AA9-F23D-26C2-2E7D-2657B439F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574" y="5238744"/>
                <a:ext cx="197746" cy="276999"/>
              </a:xfrm>
              <a:prstGeom prst="rect">
                <a:avLst/>
              </a:prstGeom>
              <a:blipFill>
                <a:blip r:embed="rId5"/>
                <a:stretch>
                  <a:fillRect l="-18750" r="-15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Flowchart: Connector 29">
            <a:extLst>
              <a:ext uri="{FF2B5EF4-FFF2-40B4-BE49-F238E27FC236}">
                <a16:creationId xmlns:a16="http://schemas.microsoft.com/office/drawing/2014/main" id="{FCA9AE5C-AC71-DC5A-B937-211EBDEE305E}"/>
              </a:ext>
            </a:extLst>
          </p:cNvPr>
          <p:cNvSpPr/>
          <p:nvPr/>
        </p:nvSpPr>
        <p:spPr>
          <a:xfrm rot="21147049">
            <a:off x="1160945" y="3504440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Flowchart: Connector 30">
            <a:extLst>
              <a:ext uri="{FF2B5EF4-FFF2-40B4-BE49-F238E27FC236}">
                <a16:creationId xmlns:a16="http://schemas.microsoft.com/office/drawing/2014/main" id="{7898205A-B9E0-41CE-6CAE-8705424A8981}"/>
              </a:ext>
            </a:extLst>
          </p:cNvPr>
          <p:cNvSpPr/>
          <p:nvPr/>
        </p:nvSpPr>
        <p:spPr>
          <a:xfrm rot="20754993">
            <a:off x="582269" y="5995183"/>
            <a:ext cx="457200" cy="45720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lowchart: Connector 31">
            <a:extLst>
              <a:ext uri="{FF2B5EF4-FFF2-40B4-BE49-F238E27FC236}">
                <a16:creationId xmlns:a16="http://schemas.microsoft.com/office/drawing/2014/main" id="{1A089BFC-9A06-B459-0F75-6A1C1C7F32B0}"/>
              </a:ext>
            </a:extLst>
          </p:cNvPr>
          <p:cNvSpPr/>
          <p:nvPr/>
        </p:nvSpPr>
        <p:spPr>
          <a:xfrm>
            <a:off x="4047866" y="3796959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lowchart: Connector 32">
            <a:extLst>
              <a:ext uri="{FF2B5EF4-FFF2-40B4-BE49-F238E27FC236}">
                <a16:creationId xmlns:a16="http://schemas.microsoft.com/office/drawing/2014/main" id="{290B174A-4FA4-C19E-9A1A-0F14A762CF75}"/>
              </a:ext>
            </a:extLst>
          </p:cNvPr>
          <p:cNvSpPr/>
          <p:nvPr/>
        </p:nvSpPr>
        <p:spPr>
          <a:xfrm>
            <a:off x="2786855" y="4978411"/>
            <a:ext cx="457200" cy="457200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lowchart: Connector 33">
            <a:extLst>
              <a:ext uri="{FF2B5EF4-FFF2-40B4-BE49-F238E27FC236}">
                <a16:creationId xmlns:a16="http://schemas.microsoft.com/office/drawing/2014/main" id="{0F368F65-0532-258E-EA3E-F587B0AFB775}"/>
              </a:ext>
            </a:extLst>
          </p:cNvPr>
          <p:cNvSpPr/>
          <p:nvPr/>
        </p:nvSpPr>
        <p:spPr>
          <a:xfrm rot="21017207">
            <a:off x="4150113" y="5995183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19B98AD-4C2B-329F-B084-32F3A6C9B037}"/>
              </a:ext>
            </a:extLst>
          </p:cNvPr>
          <p:cNvCxnSpPr>
            <a:cxnSpLocks/>
            <a:stCxn id="31" idx="6"/>
            <a:endCxn id="33" idx="3"/>
          </p:cNvCxnSpPr>
          <p:nvPr/>
        </p:nvCxnSpPr>
        <p:spPr>
          <a:xfrm flipV="1">
            <a:off x="1032598" y="5368656"/>
            <a:ext cx="1821212" cy="799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8D959BC-830C-BCCB-48CE-50AEF1C18CD7}"/>
              </a:ext>
            </a:extLst>
          </p:cNvPr>
          <p:cNvCxnSpPr>
            <a:cxnSpLocks/>
            <a:stCxn id="30" idx="5"/>
            <a:endCxn id="33" idx="1"/>
          </p:cNvCxnSpPr>
          <p:nvPr/>
        </p:nvCxnSpPr>
        <p:spPr>
          <a:xfrm>
            <a:off x="1571025" y="3872047"/>
            <a:ext cx="1282785" cy="11733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DDE09C6E-1DD0-EBF1-3160-FE5E281B561D}"/>
              </a:ext>
            </a:extLst>
          </p:cNvPr>
          <p:cNvCxnSpPr>
            <a:cxnSpLocks/>
            <a:stCxn id="33" idx="7"/>
            <a:endCxn id="32" idx="3"/>
          </p:cNvCxnSpPr>
          <p:nvPr/>
        </p:nvCxnSpPr>
        <p:spPr>
          <a:xfrm flipV="1">
            <a:off x="3177100" y="4187204"/>
            <a:ext cx="937721" cy="8581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2CB084F2-DA7D-D5A8-267B-DDE660ED9C0F}"/>
              </a:ext>
            </a:extLst>
          </p:cNvPr>
          <p:cNvCxnSpPr>
            <a:cxnSpLocks/>
            <a:stCxn id="33" idx="5"/>
            <a:endCxn id="34" idx="1"/>
          </p:cNvCxnSpPr>
          <p:nvPr/>
        </p:nvCxnSpPr>
        <p:spPr>
          <a:xfrm>
            <a:off x="3177100" y="5368656"/>
            <a:ext cx="1015013" cy="7230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2EA8B060-38B5-ACFE-4E6E-6CA3CB90A065}"/>
              </a:ext>
            </a:extLst>
          </p:cNvPr>
          <p:cNvCxnSpPr>
            <a:cxnSpLocks/>
            <a:stCxn id="31" idx="0"/>
            <a:endCxn id="30" idx="3"/>
          </p:cNvCxnSpPr>
          <p:nvPr/>
        </p:nvCxnSpPr>
        <p:spPr>
          <a:xfrm flipV="1">
            <a:off x="755243" y="3914520"/>
            <a:ext cx="495295" cy="20875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7486D54-5115-509D-0A64-60FF91CA7299}"/>
              </a:ext>
            </a:extLst>
          </p:cNvPr>
          <p:cNvCxnSpPr>
            <a:stCxn id="30" idx="0"/>
          </p:cNvCxnSpPr>
          <p:nvPr/>
        </p:nvCxnSpPr>
        <p:spPr>
          <a:xfrm flipH="1" flipV="1">
            <a:off x="1311202" y="3044861"/>
            <a:ext cx="48310" cy="4615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83A06015-01C6-1AEE-8A06-19CFCEDF1239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810869" y="3348805"/>
            <a:ext cx="397196" cy="2452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3F3D8403-DE20-B780-C8A5-ED4D425509CC}"/>
              </a:ext>
            </a:extLst>
          </p:cNvPr>
          <p:cNvCxnSpPr>
            <a:cxnSpLocks/>
          </p:cNvCxnSpPr>
          <p:nvPr/>
        </p:nvCxnSpPr>
        <p:spPr>
          <a:xfrm flipH="1" flipV="1">
            <a:off x="4149936" y="3373641"/>
            <a:ext cx="84353" cy="44078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B88D63D-CF30-E1C3-CC69-3C0C91C315EF}"/>
              </a:ext>
            </a:extLst>
          </p:cNvPr>
          <p:cNvCxnSpPr>
            <a:cxnSpLocks/>
          </p:cNvCxnSpPr>
          <p:nvPr/>
        </p:nvCxnSpPr>
        <p:spPr>
          <a:xfrm flipV="1">
            <a:off x="4470902" y="3580064"/>
            <a:ext cx="320766" cy="3059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04D18A9-FBE8-E3BA-DE42-AE79561739AE}"/>
              </a:ext>
            </a:extLst>
          </p:cNvPr>
          <p:cNvCxnSpPr>
            <a:cxnSpLocks/>
          </p:cNvCxnSpPr>
          <p:nvPr/>
        </p:nvCxnSpPr>
        <p:spPr>
          <a:xfrm flipV="1">
            <a:off x="1552845" y="3166693"/>
            <a:ext cx="211658" cy="4054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5BC4F527-C3F1-28E8-94B6-8C2041246B6E}"/>
              </a:ext>
            </a:extLst>
          </p:cNvPr>
          <p:cNvCxnSpPr>
            <a:cxnSpLocks/>
            <a:endCxn id="31" idx="2"/>
          </p:cNvCxnSpPr>
          <p:nvPr/>
        </p:nvCxnSpPr>
        <p:spPr>
          <a:xfrm flipV="1">
            <a:off x="191205" y="6279409"/>
            <a:ext cx="397935" cy="16077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29454CD4-E259-272B-5F78-8628EB71800E}"/>
              </a:ext>
            </a:extLst>
          </p:cNvPr>
          <p:cNvCxnSpPr>
            <a:cxnSpLocks/>
          </p:cNvCxnSpPr>
          <p:nvPr/>
        </p:nvCxnSpPr>
        <p:spPr>
          <a:xfrm flipH="1" flipV="1">
            <a:off x="831349" y="6440186"/>
            <a:ext cx="74411" cy="4178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7" name="Arrow: Left 46">
            <a:extLst>
              <a:ext uri="{FF2B5EF4-FFF2-40B4-BE49-F238E27FC236}">
                <a16:creationId xmlns:a16="http://schemas.microsoft.com/office/drawing/2014/main" id="{4FA94BB6-CAC0-225D-1394-0F9FB0559988}"/>
              </a:ext>
            </a:extLst>
          </p:cNvPr>
          <p:cNvSpPr/>
          <p:nvPr/>
        </p:nvSpPr>
        <p:spPr>
          <a:xfrm rot="20147751">
            <a:off x="989699" y="5567212"/>
            <a:ext cx="1720917" cy="16644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Arrow: Left 47">
            <a:extLst>
              <a:ext uri="{FF2B5EF4-FFF2-40B4-BE49-F238E27FC236}">
                <a16:creationId xmlns:a16="http://schemas.microsoft.com/office/drawing/2014/main" id="{32585C50-DB4A-5CE8-6A45-2C3CAC636D4B}"/>
              </a:ext>
            </a:extLst>
          </p:cNvPr>
          <p:cNvSpPr/>
          <p:nvPr/>
        </p:nvSpPr>
        <p:spPr>
          <a:xfrm rot="2557016">
            <a:off x="1476597" y="4290512"/>
            <a:ext cx="1656000" cy="166445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Arrow: Left 48">
            <a:extLst>
              <a:ext uri="{FF2B5EF4-FFF2-40B4-BE49-F238E27FC236}">
                <a16:creationId xmlns:a16="http://schemas.microsoft.com/office/drawing/2014/main" id="{5C5AED2F-FD1A-BAD9-918E-4EEDEDCF6E97}"/>
              </a:ext>
            </a:extLst>
          </p:cNvPr>
          <p:cNvSpPr/>
          <p:nvPr/>
        </p:nvSpPr>
        <p:spPr>
          <a:xfrm rot="8270901">
            <a:off x="3167264" y="4606484"/>
            <a:ext cx="1188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Arrow: Left 49">
            <a:extLst>
              <a:ext uri="{FF2B5EF4-FFF2-40B4-BE49-F238E27FC236}">
                <a16:creationId xmlns:a16="http://schemas.microsoft.com/office/drawing/2014/main" id="{68540380-258F-EE59-3118-C66E9B2E900D}"/>
              </a:ext>
            </a:extLst>
          </p:cNvPr>
          <p:cNvSpPr/>
          <p:nvPr/>
        </p:nvSpPr>
        <p:spPr>
          <a:xfrm rot="12957092">
            <a:off x="3017042" y="5741057"/>
            <a:ext cx="1188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2E0B464-36EB-A1CA-B2A8-8AE3897B26A3}"/>
                  </a:ext>
                </a:extLst>
              </p:cNvPr>
              <p:cNvSpPr txBox="1"/>
              <p:nvPr/>
            </p:nvSpPr>
            <p:spPr>
              <a:xfrm>
                <a:off x="1673574" y="5238743"/>
                <a:ext cx="1977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2E0B464-36EB-A1CA-B2A8-8AE3897B26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3574" y="5238743"/>
                <a:ext cx="197746" cy="276999"/>
              </a:xfrm>
              <a:prstGeom prst="rect">
                <a:avLst/>
              </a:prstGeom>
              <a:blipFill>
                <a:blip r:embed="rId5"/>
                <a:stretch>
                  <a:fillRect l="-18750" r="-15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5D91FE9-4D62-CB63-4016-1D74D7A1B30B}"/>
                  </a:ext>
                </a:extLst>
              </p:cNvPr>
              <p:cNvSpPr txBox="1"/>
              <p:nvPr/>
            </p:nvSpPr>
            <p:spPr>
              <a:xfrm>
                <a:off x="2442692" y="4065437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GB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A5D91FE9-4D62-CB63-4016-1D74D7A1B3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2692" y="4065437"/>
                <a:ext cx="199350" cy="276999"/>
              </a:xfrm>
              <a:prstGeom prst="rect">
                <a:avLst/>
              </a:prstGeom>
              <a:blipFill>
                <a:blip r:embed="rId6"/>
                <a:stretch>
                  <a:fillRect l="-43750" t="-2222" r="-40625" b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88B7BC6-91F4-D2C9-9C1A-22E52681FF77}"/>
                  </a:ext>
                </a:extLst>
              </p:cNvPr>
              <p:cNvSpPr txBox="1"/>
              <p:nvPr/>
            </p:nvSpPr>
            <p:spPr>
              <a:xfrm>
                <a:off x="3379416" y="5821391"/>
                <a:ext cx="180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88B7BC6-91F4-D2C9-9C1A-22E52681FF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9416" y="5821391"/>
                <a:ext cx="180947" cy="276999"/>
              </a:xfrm>
              <a:prstGeom prst="rect">
                <a:avLst/>
              </a:prstGeom>
              <a:blipFill>
                <a:blip r:embed="rId7"/>
                <a:stretch>
                  <a:fillRect l="-30000" r="-26667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C4303D1-A496-6D51-1217-30456135FF98}"/>
                  </a:ext>
                </a:extLst>
              </p:cNvPr>
              <p:cNvSpPr txBox="1"/>
              <p:nvPr/>
            </p:nvSpPr>
            <p:spPr>
              <a:xfrm>
                <a:off x="3881044" y="4669111"/>
                <a:ext cx="180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C4303D1-A496-6D51-1217-30456135FF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81044" y="4669111"/>
                <a:ext cx="180947" cy="276999"/>
              </a:xfrm>
              <a:prstGeom prst="rect">
                <a:avLst/>
              </a:prstGeom>
              <a:blipFill>
                <a:blip r:embed="rId8"/>
                <a:stretch>
                  <a:fillRect l="-34483" r="-27586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5" name="Picture 54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$&#10;&#10;\end{document}&#10;" title="IguanaTex Picture Display">
            <a:extLst>
              <a:ext uri="{FF2B5EF4-FFF2-40B4-BE49-F238E27FC236}">
                <a16:creationId xmlns:a16="http://schemas.microsoft.com/office/drawing/2014/main" id="{3D261373-1F67-B201-3D78-FBD40DDE9BA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2733" y="5548485"/>
            <a:ext cx="68571" cy="169143"/>
          </a:xfrm>
          <a:prstGeom prst="rect">
            <a:avLst/>
          </a:prstGeom>
        </p:spPr>
      </p:pic>
      <p:pic>
        <p:nvPicPr>
          <p:cNvPr id="56" name="Picture 55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-1$&#10;&#10;\end{document}&#10;" title="IguanaTex Picture Display">
            <a:extLst>
              <a:ext uri="{FF2B5EF4-FFF2-40B4-BE49-F238E27FC236}">
                <a16:creationId xmlns:a16="http://schemas.microsoft.com/office/drawing/2014/main" id="{69A548D2-39C9-1972-0AF6-30F66C5CD549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810" y="6359797"/>
            <a:ext cx="496762" cy="170667"/>
          </a:xfrm>
          <a:prstGeom prst="rect">
            <a:avLst/>
          </a:prstGeom>
        </p:spPr>
      </p:pic>
      <p:sp>
        <p:nvSpPr>
          <p:cNvPr id="58" name="Content Placeholder 279">
            <a:extLst>
              <a:ext uri="{FF2B5EF4-FFF2-40B4-BE49-F238E27FC236}">
                <a16:creationId xmlns:a16="http://schemas.microsoft.com/office/drawing/2014/main" id="{F5CD640D-481C-93F1-A1DD-CAB6AA501BD0}"/>
              </a:ext>
            </a:extLst>
          </p:cNvPr>
          <p:cNvSpPr txBox="1">
            <a:spLocks/>
          </p:cNvSpPr>
          <p:nvPr/>
        </p:nvSpPr>
        <p:spPr>
          <a:xfrm>
            <a:off x="10119142" y="5984023"/>
            <a:ext cx="1881653" cy="660580"/>
          </a:xfrm>
          <a:prstGeom prst="rect">
            <a:avLst/>
          </a:pr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 Narrow" panose="020B0606020202030204" pitchFamily="34" charset="0"/>
              <a:buNone/>
              <a:defRPr sz="1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80000" indent="-3600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360000" indent="-3600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20000" indent="-360000" algn="l" defTabSz="914400" rtl="0" eaLnBrk="1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+mj-lt"/>
              <a:buAutoNum type="alphaL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20050" indent="-400050" algn="l" defTabSz="914400" rtl="0" eaLnBrk="1" latinLnBrk="0" hangingPunct="1">
              <a:lnSpc>
                <a:spcPts val="2000"/>
              </a:lnSpc>
              <a:spcBef>
                <a:spcPts val="0"/>
              </a:spcBef>
              <a:buFont typeface="+mj-lt"/>
              <a:buAutoNum type="romanLcPeriod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lnSpc>
                <a:spcPts val="2500"/>
              </a:lnSpc>
              <a:spcBef>
                <a:spcPts val="0"/>
              </a:spcBef>
              <a:buFontTx/>
              <a:buNone/>
              <a:defRPr sz="2200" b="1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buFontTx/>
              <a:buNone/>
              <a:defRPr sz="18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ts val="2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 Narrow" panose="020B0606020202030204" pitchFamily="34" charset="0"/>
              <a:buNone/>
              <a:tabLst/>
              <a:defRPr/>
            </a:pPr>
            <a:r>
              <a:rPr kumimoji="0" lang="en-US" sz="100" b="0" i="0" u="none" strike="noStrike" kern="1200" cap="none" spc="0" normalizeH="0" baseline="0" noProof="0">
                <a:ln>
                  <a:noFill/>
                </a:ln>
                <a:solidFill>
                  <a:srgbClr val="231F20"/>
                </a:solidFill>
                <a:effectLst/>
                <a:uLnTx/>
                <a:uFillTx/>
                <a:latin typeface="Arial Narrow"/>
                <a:ea typeface="+mn-ea"/>
                <a:cs typeface="+mn-cs"/>
              </a:rPr>
              <a:t>.</a:t>
            </a:r>
            <a:endParaRPr kumimoji="0" lang="en-US" sz="100" b="0" i="0" u="none" strike="noStrike" kern="1200" cap="none" spc="0" normalizeH="0" baseline="0" noProof="0" dirty="0">
              <a:ln>
                <a:noFill/>
              </a:ln>
              <a:solidFill>
                <a:srgbClr val="231F20"/>
              </a:solidFill>
              <a:effectLst/>
              <a:uLnTx/>
              <a:uFillTx/>
              <a:latin typeface="Arial Narrow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950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C159F-18DF-6216-7664-59DC4305FD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0E67E-56DD-5A5C-0992-D2A65FFF7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rgbClr val="26457C"/>
                </a:solidFill>
              </a:rPr>
              <a:t>Collaborators</a:t>
            </a:r>
            <a:endParaRPr lang="en-GB" dirty="0">
              <a:solidFill>
                <a:srgbClr val="26457C"/>
              </a:solidFill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2D2B0AA2-3B63-94C7-577A-66A8BD4AD0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7787" y="1579866"/>
            <a:ext cx="2437992" cy="3550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person wearing glasses and a blue shirt&#10;&#10;AI-generated content may be incorrect.">
            <a:extLst>
              <a:ext uri="{FF2B5EF4-FFF2-40B4-BE49-F238E27FC236}">
                <a16:creationId xmlns:a16="http://schemas.microsoft.com/office/drawing/2014/main" id="{807E550F-0EE0-91E2-B217-36A35ED93A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0227" y="1579866"/>
            <a:ext cx="2371545" cy="3550131"/>
          </a:xfrm>
          <a:prstGeom prst="rect">
            <a:avLst/>
          </a:prstGeom>
        </p:spPr>
      </p:pic>
      <p:pic>
        <p:nvPicPr>
          <p:cNvPr id="6" name="Picture 5" descr="A close-up of a person&#10;&#10;AI-generated content may be incorrect.">
            <a:extLst>
              <a:ext uri="{FF2B5EF4-FFF2-40B4-BE49-F238E27FC236}">
                <a16:creationId xmlns:a16="http://schemas.microsoft.com/office/drawing/2014/main" id="{C3BB8DD0-161C-89C8-2035-AE37A418839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668" y="1579866"/>
            <a:ext cx="2371546" cy="348673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D6D3C14-E498-78E6-0AEF-53BEE7C5E852}"/>
              </a:ext>
            </a:extLst>
          </p:cNvPr>
          <p:cNvSpPr txBox="1"/>
          <p:nvPr/>
        </p:nvSpPr>
        <p:spPr>
          <a:xfrm>
            <a:off x="838200" y="5457180"/>
            <a:ext cx="22540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Clara Stegehuis</a:t>
            </a:r>
          </a:p>
          <a:p>
            <a:r>
              <a:rPr lang="de-DE" dirty="0"/>
              <a:t>(University of Twente)</a:t>
            </a:r>
            <a:endParaRPr lang="LID4096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799092-1BCA-444B-E127-5C3093AF0245}"/>
              </a:ext>
            </a:extLst>
          </p:cNvPr>
          <p:cNvSpPr txBox="1"/>
          <p:nvPr/>
        </p:nvSpPr>
        <p:spPr>
          <a:xfrm>
            <a:off x="4910225" y="5457180"/>
            <a:ext cx="2371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Gianmarco Bet</a:t>
            </a:r>
          </a:p>
          <a:p>
            <a:r>
              <a:rPr lang="de-DE" dirty="0"/>
              <a:t>(University of Florence)</a:t>
            </a:r>
            <a:endParaRPr lang="LID409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EC10B1-4D4A-4689-EDDF-34473B64D309}"/>
              </a:ext>
            </a:extLst>
          </p:cNvPr>
          <p:cNvSpPr txBox="1"/>
          <p:nvPr/>
        </p:nvSpPr>
        <p:spPr>
          <a:xfrm>
            <a:off x="8850714" y="5457180"/>
            <a:ext cx="23715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Luca Avena</a:t>
            </a:r>
          </a:p>
          <a:p>
            <a:r>
              <a:rPr lang="de-DE" dirty="0"/>
              <a:t>(University of Florence)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42467588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8908-4060-DC71-A2C7-F9D47D12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40D1-4E68-96E5-795D-D848919E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node2vec </a:t>
            </a:r>
            <a:r>
              <a:rPr lang="de-DE" dirty="0" err="1">
                <a:solidFill>
                  <a:srgbClr val="26457C"/>
                </a:solidFill>
              </a:rPr>
              <a:t>random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walks</a:t>
            </a:r>
            <a:endParaRPr lang="en-GB" dirty="0">
              <a:solidFill>
                <a:srgbClr val="26457C"/>
              </a:solidFill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128EBF4A-A21E-BCDA-5325-6434558F1FC2}"/>
              </a:ext>
            </a:extLst>
          </p:cNvPr>
          <p:cNvSpPr/>
          <p:nvPr/>
        </p:nvSpPr>
        <p:spPr>
          <a:xfrm rot="21147049">
            <a:off x="2799972" y="2383272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26D35EE-7B59-EF1D-2255-440EF307BA14}"/>
              </a:ext>
            </a:extLst>
          </p:cNvPr>
          <p:cNvSpPr/>
          <p:nvPr/>
        </p:nvSpPr>
        <p:spPr>
          <a:xfrm rot="20754993">
            <a:off x="2221296" y="4874015"/>
            <a:ext cx="457200" cy="457200"/>
          </a:xfrm>
          <a:prstGeom prst="flowChartConnector">
            <a:avLst/>
          </a:prstGeom>
          <a:solidFill>
            <a:schemeClr val="bg2">
              <a:lumMod val="9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C1E514B-9B77-DC5A-6B0E-99921756AECB}"/>
              </a:ext>
            </a:extLst>
          </p:cNvPr>
          <p:cNvSpPr/>
          <p:nvPr/>
        </p:nvSpPr>
        <p:spPr>
          <a:xfrm>
            <a:off x="5686893" y="2675791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85E8886-8BD0-B920-9FEC-7B5B8B79BC8C}"/>
              </a:ext>
            </a:extLst>
          </p:cNvPr>
          <p:cNvSpPr/>
          <p:nvPr/>
        </p:nvSpPr>
        <p:spPr>
          <a:xfrm>
            <a:off x="4425882" y="3857243"/>
            <a:ext cx="457200" cy="457200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0FDC5F6-1711-2E97-39DE-0605CF957FD0}"/>
              </a:ext>
            </a:extLst>
          </p:cNvPr>
          <p:cNvSpPr/>
          <p:nvPr/>
        </p:nvSpPr>
        <p:spPr>
          <a:xfrm rot="21017207">
            <a:off x="5789140" y="4874015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0008C5-DFF7-49B4-FF12-4CE5420F30FC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2671625" y="4247488"/>
            <a:ext cx="1821212" cy="799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01455A-4AA4-FCFC-2B3F-2A58AD832A8E}"/>
              </a:ext>
            </a:extLst>
          </p:cNvPr>
          <p:cNvCxnSpPr>
            <a:cxnSpLocks/>
            <a:stCxn id="3" idx="5"/>
            <a:endCxn id="7" idx="1"/>
          </p:cNvCxnSpPr>
          <p:nvPr/>
        </p:nvCxnSpPr>
        <p:spPr>
          <a:xfrm>
            <a:off x="3210052" y="2750879"/>
            <a:ext cx="1282785" cy="11733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142C86-B56B-83DE-DCEB-0167A36F4FE5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816127" y="3066036"/>
            <a:ext cx="937721" cy="8581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AB72B3-03DC-1905-F366-4B25DBE718B0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>
            <a:off x="4816127" y="4247488"/>
            <a:ext cx="1015013" cy="7230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8FDD79E-457F-4618-5C2F-FDCCEFE601BE}"/>
              </a:ext>
            </a:extLst>
          </p:cNvPr>
          <p:cNvCxnSpPr>
            <a:cxnSpLocks/>
            <a:stCxn id="5" idx="0"/>
            <a:endCxn id="3" idx="3"/>
          </p:cNvCxnSpPr>
          <p:nvPr/>
        </p:nvCxnSpPr>
        <p:spPr>
          <a:xfrm flipV="1">
            <a:off x="2394270" y="2793352"/>
            <a:ext cx="495295" cy="20875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F8EB713-6B23-3D7B-98A2-A06BC3A865FF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2950229" y="1923693"/>
            <a:ext cx="48310" cy="4615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7E3A711-AD1D-C8D0-E884-81AF77E18010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2449896" y="2227637"/>
            <a:ext cx="397196" cy="2452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953FE4A-D380-1FDA-8F5B-9A449C7B6BAB}"/>
              </a:ext>
            </a:extLst>
          </p:cNvPr>
          <p:cNvCxnSpPr>
            <a:cxnSpLocks/>
          </p:cNvCxnSpPr>
          <p:nvPr/>
        </p:nvCxnSpPr>
        <p:spPr>
          <a:xfrm flipH="1" flipV="1">
            <a:off x="5788963" y="2252473"/>
            <a:ext cx="84353" cy="44078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3FA793A-2CED-0205-554D-EAA5DEB8D596}"/>
              </a:ext>
            </a:extLst>
          </p:cNvPr>
          <p:cNvCxnSpPr>
            <a:cxnSpLocks/>
          </p:cNvCxnSpPr>
          <p:nvPr/>
        </p:nvCxnSpPr>
        <p:spPr>
          <a:xfrm flipV="1">
            <a:off x="6109929" y="2458896"/>
            <a:ext cx="320766" cy="3059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7C313E1-FF9D-6A98-3814-CDCA13CDF916}"/>
              </a:ext>
            </a:extLst>
          </p:cNvPr>
          <p:cNvCxnSpPr>
            <a:cxnSpLocks/>
          </p:cNvCxnSpPr>
          <p:nvPr/>
        </p:nvCxnSpPr>
        <p:spPr>
          <a:xfrm flipV="1">
            <a:off x="3191872" y="2045525"/>
            <a:ext cx="211658" cy="4054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E376BA1-E123-9CBD-16E3-C638443781DA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1830232" y="5158241"/>
            <a:ext cx="397935" cy="16077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5FAFE63-192E-763A-2484-874D4488EB26}"/>
              </a:ext>
            </a:extLst>
          </p:cNvPr>
          <p:cNvCxnSpPr>
            <a:cxnSpLocks/>
          </p:cNvCxnSpPr>
          <p:nvPr/>
        </p:nvCxnSpPr>
        <p:spPr>
          <a:xfrm flipH="1" flipV="1">
            <a:off x="2470376" y="5319018"/>
            <a:ext cx="74411" cy="4178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Arrow: Left 3">
            <a:extLst>
              <a:ext uri="{FF2B5EF4-FFF2-40B4-BE49-F238E27FC236}">
                <a16:creationId xmlns:a16="http://schemas.microsoft.com/office/drawing/2014/main" id="{778EE74D-DC8B-D41F-27C5-C89E7A0A55EB}"/>
              </a:ext>
            </a:extLst>
          </p:cNvPr>
          <p:cNvSpPr/>
          <p:nvPr/>
        </p:nvSpPr>
        <p:spPr>
          <a:xfrm rot="20147751">
            <a:off x="2628726" y="4446044"/>
            <a:ext cx="1720917" cy="16644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91CC02E5-EAA2-9B4E-50FA-D255DF2C71D7}"/>
              </a:ext>
            </a:extLst>
          </p:cNvPr>
          <p:cNvSpPr/>
          <p:nvPr/>
        </p:nvSpPr>
        <p:spPr>
          <a:xfrm rot="2557016">
            <a:off x="3115624" y="3169344"/>
            <a:ext cx="1656000" cy="166445"/>
          </a:xfrm>
          <a:prstGeom prst="lef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AB598BA5-2D30-386F-8162-784A98361B74}"/>
              </a:ext>
            </a:extLst>
          </p:cNvPr>
          <p:cNvSpPr/>
          <p:nvPr/>
        </p:nvSpPr>
        <p:spPr>
          <a:xfrm rot="8270901">
            <a:off x="4806291" y="3485316"/>
            <a:ext cx="1188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73F7FD17-F9E2-29C5-9251-68BBC81B0A08}"/>
              </a:ext>
            </a:extLst>
          </p:cNvPr>
          <p:cNvSpPr/>
          <p:nvPr/>
        </p:nvSpPr>
        <p:spPr>
          <a:xfrm rot="12957092">
            <a:off x="4656069" y="4619889"/>
            <a:ext cx="1188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2C51FC-8CE4-F972-F106-4BE21376D16C}"/>
                  </a:ext>
                </a:extLst>
              </p:cNvPr>
              <p:cNvSpPr txBox="1"/>
              <p:nvPr/>
            </p:nvSpPr>
            <p:spPr>
              <a:xfrm>
                <a:off x="3312601" y="4117575"/>
                <a:ext cx="1977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2C51FC-8CE4-F972-F106-4BE21376D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2601" y="4117575"/>
                <a:ext cx="197746" cy="276999"/>
              </a:xfrm>
              <a:prstGeom prst="rect">
                <a:avLst/>
              </a:prstGeom>
              <a:blipFill>
                <a:blip r:embed="rId4"/>
                <a:stretch>
                  <a:fillRect l="-18182" r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84883E-049D-FC7E-156E-A1A525F4E67F}"/>
                  </a:ext>
                </a:extLst>
              </p:cNvPr>
              <p:cNvSpPr txBox="1"/>
              <p:nvPr/>
            </p:nvSpPr>
            <p:spPr>
              <a:xfrm>
                <a:off x="4081719" y="2944269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GB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84883E-049D-FC7E-156E-A1A525F4E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1719" y="2944269"/>
                <a:ext cx="199350" cy="276999"/>
              </a:xfrm>
              <a:prstGeom prst="rect">
                <a:avLst/>
              </a:prstGeom>
              <a:blipFill>
                <a:blip r:embed="rId5"/>
                <a:stretch>
                  <a:fillRect l="-43750" t="-2222" r="-40625" b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CAE8A9-C798-CE2F-45A0-BCE7983EE7DC}"/>
                  </a:ext>
                </a:extLst>
              </p:cNvPr>
              <p:cNvSpPr txBox="1"/>
              <p:nvPr/>
            </p:nvSpPr>
            <p:spPr>
              <a:xfrm>
                <a:off x="5018443" y="4700223"/>
                <a:ext cx="180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CAE8A9-C798-CE2F-45A0-BCE7983EE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8443" y="4700223"/>
                <a:ext cx="180947" cy="276999"/>
              </a:xfrm>
              <a:prstGeom prst="rect">
                <a:avLst/>
              </a:prstGeom>
              <a:blipFill>
                <a:blip r:embed="rId6"/>
                <a:stretch>
                  <a:fillRect l="-30000" r="-26667" b="-2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091539-7AFB-B525-0462-A6D21685A8D0}"/>
                  </a:ext>
                </a:extLst>
              </p:cNvPr>
              <p:cNvSpPr txBox="1"/>
              <p:nvPr/>
            </p:nvSpPr>
            <p:spPr>
              <a:xfrm>
                <a:off x="5520071" y="3547943"/>
                <a:ext cx="180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091539-7AFB-B525-0462-A6D21685A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071" y="3547943"/>
                <a:ext cx="180947" cy="276999"/>
              </a:xfrm>
              <a:prstGeom prst="rect">
                <a:avLst/>
              </a:prstGeom>
              <a:blipFill>
                <a:blip r:embed="rId7"/>
                <a:stretch>
                  <a:fillRect l="-34483" r="-27586" b="-2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$&#10;&#10;\end{document}&#10;" title="IguanaTex Picture Display">
            <a:extLst>
              <a:ext uri="{FF2B5EF4-FFF2-40B4-BE49-F238E27FC236}">
                <a16:creationId xmlns:a16="http://schemas.microsoft.com/office/drawing/2014/main" id="{5C81E01C-214C-EC48-3D66-74FD0BB81E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760" y="4427317"/>
            <a:ext cx="68571" cy="169143"/>
          </a:xfrm>
          <a:prstGeom prst="rect">
            <a:avLst/>
          </a:prstGeom>
        </p:spPr>
      </p:pic>
      <p:pic>
        <p:nvPicPr>
          <p:cNvPr id="31" name="Picture 30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-1$&#10;&#10;\end{document}&#10;" title="IguanaTex Picture Display">
            <a:extLst>
              <a:ext uri="{FF2B5EF4-FFF2-40B4-BE49-F238E27FC236}">
                <a16:creationId xmlns:a16="http://schemas.microsoft.com/office/drawing/2014/main" id="{76990B1B-586D-4650-9B73-9EDCB8B645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837" y="5238629"/>
            <a:ext cx="496762" cy="17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36426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0" grpId="0" animBg="1"/>
      <p:bldP spid="10" grpId="1" animBg="1"/>
      <p:bldP spid="11" grpId="0" animBg="1"/>
      <p:bldP spid="11" grpId="1" animBg="1"/>
      <p:bldP spid="13" grpId="0" animBg="1"/>
      <p:bldP spid="16" grpId="0"/>
      <p:bldP spid="16" grpId="1"/>
      <p:bldP spid="20" grpId="0"/>
      <p:bldP spid="20" grpId="1"/>
      <p:bldP spid="21" grpId="0"/>
      <p:bldP spid="24" grpId="0"/>
      <p:bldP spid="2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8908-4060-DC71-A2C7-F9D47D12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40D1-4E68-96E5-795D-D848919E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node2vec </a:t>
            </a:r>
            <a:r>
              <a:rPr lang="de-DE" dirty="0" err="1">
                <a:solidFill>
                  <a:srgbClr val="26457C"/>
                </a:solidFill>
              </a:rPr>
              <a:t>random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walks</a:t>
            </a:r>
            <a:endParaRPr lang="en-GB" dirty="0">
              <a:solidFill>
                <a:srgbClr val="26457C"/>
              </a:solidFill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128EBF4A-A21E-BCDA-5325-6434558F1FC2}"/>
              </a:ext>
            </a:extLst>
          </p:cNvPr>
          <p:cNvSpPr/>
          <p:nvPr/>
        </p:nvSpPr>
        <p:spPr>
          <a:xfrm rot="21147049">
            <a:off x="2799972" y="2383272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26D35EE-7B59-EF1D-2255-440EF307BA14}"/>
              </a:ext>
            </a:extLst>
          </p:cNvPr>
          <p:cNvSpPr/>
          <p:nvPr/>
        </p:nvSpPr>
        <p:spPr>
          <a:xfrm rot="20754993">
            <a:off x="2221296" y="4874015"/>
            <a:ext cx="457200" cy="457200"/>
          </a:xfrm>
          <a:prstGeom prst="flowChartConnector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C1E514B-9B77-DC5A-6B0E-99921756AECB}"/>
              </a:ext>
            </a:extLst>
          </p:cNvPr>
          <p:cNvSpPr/>
          <p:nvPr/>
        </p:nvSpPr>
        <p:spPr>
          <a:xfrm>
            <a:off x="5686893" y="2675791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85E8886-8BD0-B920-9FEC-7B5B8B79BC8C}"/>
              </a:ext>
            </a:extLst>
          </p:cNvPr>
          <p:cNvSpPr/>
          <p:nvPr/>
        </p:nvSpPr>
        <p:spPr>
          <a:xfrm>
            <a:off x="4425882" y="3857243"/>
            <a:ext cx="457200" cy="457200"/>
          </a:xfrm>
          <a:prstGeom prst="flowChartConnector">
            <a:avLst/>
          </a:prstGeom>
          <a:solidFill>
            <a:srgbClr val="D0CECE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0FDC5F6-1711-2E97-39DE-0605CF957FD0}"/>
              </a:ext>
            </a:extLst>
          </p:cNvPr>
          <p:cNvSpPr/>
          <p:nvPr/>
        </p:nvSpPr>
        <p:spPr>
          <a:xfrm rot="21017207">
            <a:off x="5789140" y="4874015"/>
            <a:ext cx="457200" cy="457200"/>
          </a:xfrm>
          <a:prstGeom prst="flowChartConnector">
            <a:avLst/>
          </a:prstGeom>
          <a:solidFill>
            <a:srgbClr val="76717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0008C5-DFF7-49B4-FF12-4CE5420F30FC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2671625" y="4247488"/>
            <a:ext cx="1821212" cy="799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01455A-4AA4-FCFC-2B3F-2A58AD832A8E}"/>
              </a:ext>
            </a:extLst>
          </p:cNvPr>
          <p:cNvCxnSpPr>
            <a:cxnSpLocks/>
            <a:stCxn id="3" idx="5"/>
            <a:endCxn id="7" idx="1"/>
          </p:cNvCxnSpPr>
          <p:nvPr/>
        </p:nvCxnSpPr>
        <p:spPr>
          <a:xfrm>
            <a:off x="3210052" y="2750879"/>
            <a:ext cx="1282785" cy="11733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142C86-B56B-83DE-DCEB-0167A36F4FE5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816127" y="3066036"/>
            <a:ext cx="937721" cy="8581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AB72B3-03DC-1905-F366-4B25DBE718B0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>
            <a:off x="4816127" y="4247488"/>
            <a:ext cx="1015013" cy="7230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8FDD79E-457F-4618-5C2F-FDCCEFE601BE}"/>
              </a:ext>
            </a:extLst>
          </p:cNvPr>
          <p:cNvCxnSpPr>
            <a:cxnSpLocks/>
            <a:stCxn id="5" idx="0"/>
            <a:endCxn id="3" idx="3"/>
          </p:cNvCxnSpPr>
          <p:nvPr/>
        </p:nvCxnSpPr>
        <p:spPr>
          <a:xfrm flipV="1">
            <a:off x="2394270" y="2793352"/>
            <a:ext cx="495295" cy="20875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F8EB713-6B23-3D7B-98A2-A06BC3A865FF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2950229" y="1923693"/>
            <a:ext cx="48310" cy="4615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7E3A711-AD1D-C8D0-E884-81AF77E18010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2449896" y="2227637"/>
            <a:ext cx="397196" cy="2452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953FE4A-D380-1FDA-8F5B-9A449C7B6BAB}"/>
              </a:ext>
            </a:extLst>
          </p:cNvPr>
          <p:cNvCxnSpPr>
            <a:cxnSpLocks/>
          </p:cNvCxnSpPr>
          <p:nvPr/>
        </p:nvCxnSpPr>
        <p:spPr>
          <a:xfrm flipH="1" flipV="1">
            <a:off x="5788963" y="2252473"/>
            <a:ext cx="84353" cy="44078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3FA793A-2CED-0205-554D-EAA5DEB8D596}"/>
              </a:ext>
            </a:extLst>
          </p:cNvPr>
          <p:cNvCxnSpPr>
            <a:cxnSpLocks/>
          </p:cNvCxnSpPr>
          <p:nvPr/>
        </p:nvCxnSpPr>
        <p:spPr>
          <a:xfrm flipV="1">
            <a:off x="6109929" y="2458896"/>
            <a:ext cx="320766" cy="3059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7C313E1-FF9D-6A98-3814-CDCA13CDF916}"/>
              </a:ext>
            </a:extLst>
          </p:cNvPr>
          <p:cNvCxnSpPr>
            <a:cxnSpLocks/>
          </p:cNvCxnSpPr>
          <p:nvPr/>
        </p:nvCxnSpPr>
        <p:spPr>
          <a:xfrm flipV="1">
            <a:off x="3191872" y="2045525"/>
            <a:ext cx="211658" cy="4054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E376BA1-E123-9CBD-16E3-C638443781DA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1830232" y="5158241"/>
            <a:ext cx="397935" cy="16077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5FAFE63-192E-763A-2484-874D4488EB26}"/>
              </a:ext>
            </a:extLst>
          </p:cNvPr>
          <p:cNvCxnSpPr>
            <a:cxnSpLocks/>
          </p:cNvCxnSpPr>
          <p:nvPr/>
        </p:nvCxnSpPr>
        <p:spPr>
          <a:xfrm flipH="1" flipV="1">
            <a:off x="2470376" y="5319018"/>
            <a:ext cx="74411" cy="4178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Arrow: Left 12">
            <a:extLst>
              <a:ext uri="{FF2B5EF4-FFF2-40B4-BE49-F238E27FC236}">
                <a16:creationId xmlns:a16="http://schemas.microsoft.com/office/drawing/2014/main" id="{73F7FD17-F9E2-29C5-9251-68BBC81B0A08}"/>
              </a:ext>
            </a:extLst>
          </p:cNvPr>
          <p:cNvSpPr/>
          <p:nvPr/>
        </p:nvSpPr>
        <p:spPr>
          <a:xfrm rot="2116213">
            <a:off x="4823865" y="4428300"/>
            <a:ext cx="1188000" cy="16644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2C51FC-8CE4-F972-F106-4BE21376D16C}"/>
                  </a:ext>
                </a:extLst>
              </p:cNvPr>
              <p:cNvSpPr txBox="1"/>
              <p:nvPr/>
            </p:nvSpPr>
            <p:spPr>
              <a:xfrm>
                <a:off x="5443022" y="4223739"/>
                <a:ext cx="1977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2C51FC-8CE4-F972-F106-4BE21376D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3022" y="4223739"/>
                <a:ext cx="197746" cy="276999"/>
              </a:xfrm>
              <a:prstGeom prst="rect">
                <a:avLst/>
              </a:prstGeom>
              <a:blipFill>
                <a:blip r:embed="rId4"/>
                <a:stretch>
                  <a:fillRect l="-18750" r="-15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$&#10;&#10;\end{document}&#10;" title="IguanaTex Picture Display">
            <a:extLst>
              <a:ext uri="{FF2B5EF4-FFF2-40B4-BE49-F238E27FC236}">
                <a16:creationId xmlns:a16="http://schemas.microsoft.com/office/drawing/2014/main" id="{5C81E01C-214C-EC48-3D66-74FD0BB81E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3454" y="5443352"/>
            <a:ext cx="68571" cy="169143"/>
          </a:xfrm>
          <a:prstGeom prst="rect">
            <a:avLst/>
          </a:prstGeom>
        </p:spPr>
      </p:pic>
      <p:pic>
        <p:nvPicPr>
          <p:cNvPr id="31" name="Picture 30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-1$&#10;&#10;\end{document}&#10;" title="IguanaTex Picture Display">
            <a:extLst>
              <a:ext uri="{FF2B5EF4-FFF2-40B4-BE49-F238E27FC236}">
                <a16:creationId xmlns:a16="http://schemas.microsoft.com/office/drawing/2014/main" id="{76990B1B-586D-4650-9B73-9EDCB8B645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6101" y="4510048"/>
            <a:ext cx="496762" cy="17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579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8908-4060-DC71-A2C7-F9D47D12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40D1-4E68-96E5-795D-D848919E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node2vec </a:t>
            </a:r>
            <a:r>
              <a:rPr lang="de-DE" dirty="0" err="1">
                <a:solidFill>
                  <a:srgbClr val="26457C"/>
                </a:solidFill>
              </a:rPr>
              <a:t>random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walks</a:t>
            </a:r>
            <a:endParaRPr lang="en-GB" dirty="0">
              <a:solidFill>
                <a:srgbClr val="26457C"/>
              </a:solidFill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128EBF4A-A21E-BCDA-5325-6434558F1FC2}"/>
              </a:ext>
            </a:extLst>
          </p:cNvPr>
          <p:cNvSpPr/>
          <p:nvPr/>
        </p:nvSpPr>
        <p:spPr>
          <a:xfrm rot="21147049">
            <a:off x="2799972" y="2383272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26D35EE-7B59-EF1D-2255-440EF307BA14}"/>
              </a:ext>
            </a:extLst>
          </p:cNvPr>
          <p:cNvSpPr/>
          <p:nvPr/>
        </p:nvSpPr>
        <p:spPr>
          <a:xfrm rot="20754993">
            <a:off x="2221296" y="4874015"/>
            <a:ext cx="457200" cy="457200"/>
          </a:xfrm>
          <a:prstGeom prst="flowChartConnector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C1E514B-9B77-DC5A-6B0E-99921756AECB}"/>
              </a:ext>
            </a:extLst>
          </p:cNvPr>
          <p:cNvSpPr/>
          <p:nvPr/>
        </p:nvSpPr>
        <p:spPr>
          <a:xfrm>
            <a:off x="5686893" y="2675791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85E8886-8BD0-B920-9FEC-7B5B8B79BC8C}"/>
              </a:ext>
            </a:extLst>
          </p:cNvPr>
          <p:cNvSpPr/>
          <p:nvPr/>
        </p:nvSpPr>
        <p:spPr>
          <a:xfrm>
            <a:off x="4425882" y="3857243"/>
            <a:ext cx="457200" cy="457200"/>
          </a:xfrm>
          <a:prstGeom prst="flowChartConnector">
            <a:avLst/>
          </a:prstGeom>
          <a:solidFill>
            <a:schemeClr val="bg2">
              <a:lumMod val="50000"/>
            </a:schemeClr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0FDC5F6-1711-2E97-39DE-0605CF957FD0}"/>
              </a:ext>
            </a:extLst>
          </p:cNvPr>
          <p:cNvSpPr/>
          <p:nvPr/>
        </p:nvSpPr>
        <p:spPr>
          <a:xfrm rot="21017207">
            <a:off x="5789140" y="4874015"/>
            <a:ext cx="457200" cy="457200"/>
          </a:xfrm>
          <a:prstGeom prst="flowChartConnector">
            <a:avLst/>
          </a:prstGeom>
          <a:solidFill>
            <a:srgbClr val="D0CECE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0008C5-DFF7-49B4-FF12-4CE5420F30FC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2671625" y="4247488"/>
            <a:ext cx="1821212" cy="799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01455A-4AA4-FCFC-2B3F-2A58AD832A8E}"/>
              </a:ext>
            </a:extLst>
          </p:cNvPr>
          <p:cNvCxnSpPr>
            <a:cxnSpLocks/>
            <a:stCxn id="3" idx="5"/>
            <a:endCxn id="7" idx="1"/>
          </p:cNvCxnSpPr>
          <p:nvPr/>
        </p:nvCxnSpPr>
        <p:spPr>
          <a:xfrm>
            <a:off x="3210052" y="2750879"/>
            <a:ext cx="1282785" cy="11733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142C86-B56B-83DE-DCEB-0167A36F4FE5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816127" y="3066036"/>
            <a:ext cx="937721" cy="8581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AB72B3-03DC-1905-F366-4B25DBE718B0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>
            <a:off x="4816127" y="4247488"/>
            <a:ext cx="1015013" cy="7230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8FDD79E-457F-4618-5C2F-FDCCEFE601BE}"/>
              </a:ext>
            </a:extLst>
          </p:cNvPr>
          <p:cNvCxnSpPr>
            <a:cxnSpLocks/>
            <a:stCxn id="5" idx="0"/>
            <a:endCxn id="3" idx="3"/>
          </p:cNvCxnSpPr>
          <p:nvPr/>
        </p:nvCxnSpPr>
        <p:spPr>
          <a:xfrm flipV="1">
            <a:off x="2394270" y="2793352"/>
            <a:ext cx="495295" cy="20875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F8EB713-6B23-3D7B-98A2-A06BC3A865FF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2950229" y="1923693"/>
            <a:ext cx="48310" cy="4615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7E3A711-AD1D-C8D0-E884-81AF77E18010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2449896" y="2227637"/>
            <a:ext cx="397196" cy="2452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953FE4A-D380-1FDA-8F5B-9A449C7B6BAB}"/>
              </a:ext>
            </a:extLst>
          </p:cNvPr>
          <p:cNvCxnSpPr>
            <a:cxnSpLocks/>
          </p:cNvCxnSpPr>
          <p:nvPr/>
        </p:nvCxnSpPr>
        <p:spPr>
          <a:xfrm flipH="1" flipV="1">
            <a:off x="5788963" y="2252473"/>
            <a:ext cx="84353" cy="44078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3FA793A-2CED-0205-554D-EAA5DEB8D596}"/>
              </a:ext>
            </a:extLst>
          </p:cNvPr>
          <p:cNvCxnSpPr>
            <a:cxnSpLocks/>
          </p:cNvCxnSpPr>
          <p:nvPr/>
        </p:nvCxnSpPr>
        <p:spPr>
          <a:xfrm flipV="1">
            <a:off x="6109929" y="2458896"/>
            <a:ext cx="320766" cy="3059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7C313E1-FF9D-6A98-3814-CDCA13CDF916}"/>
              </a:ext>
            </a:extLst>
          </p:cNvPr>
          <p:cNvCxnSpPr>
            <a:cxnSpLocks/>
          </p:cNvCxnSpPr>
          <p:nvPr/>
        </p:nvCxnSpPr>
        <p:spPr>
          <a:xfrm flipV="1">
            <a:off x="3191872" y="2045525"/>
            <a:ext cx="211658" cy="4054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E376BA1-E123-9CBD-16E3-C638443781DA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1830232" y="5158241"/>
            <a:ext cx="397935" cy="16077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5FAFE63-192E-763A-2484-874D4488EB26}"/>
              </a:ext>
            </a:extLst>
          </p:cNvPr>
          <p:cNvCxnSpPr>
            <a:cxnSpLocks/>
          </p:cNvCxnSpPr>
          <p:nvPr/>
        </p:nvCxnSpPr>
        <p:spPr>
          <a:xfrm flipH="1" flipV="1">
            <a:off x="2470376" y="5319018"/>
            <a:ext cx="74411" cy="4178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Arrow: Left 3">
            <a:extLst>
              <a:ext uri="{FF2B5EF4-FFF2-40B4-BE49-F238E27FC236}">
                <a16:creationId xmlns:a16="http://schemas.microsoft.com/office/drawing/2014/main" id="{778EE74D-DC8B-D41F-27C5-C89E7A0A55EB}"/>
              </a:ext>
            </a:extLst>
          </p:cNvPr>
          <p:cNvSpPr/>
          <p:nvPr/>
        </p:nvSpPr>
        <p:spPr>
          <a:xfrm rot="20147751">
            <a:off x="2628726" y="4446044"/>
            <a:ext cx="1720917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91CC02E5-EAA2-9B4E-50FA-D255DF2C71D7}"/>
              </a:ext>
            </a:extLst>
          </p:cNvPr>
          <p:cNvSpPr/>
          <p:nvPr/>
        </p:nvSpPr>
        <p:spPr>
          <a:xfrm rot="2557016">
            <a:off x="3115624" y="3169344"/>
            <a:ext cx="1656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AB598BA5-2D30-386F-8162-784A98361B74}"/>
              </a:ext>
            </a:extLst>
          </p:cNvPr>
          <p:cNvSpPr/>
          <p:nvPr/>
        </p:nvSpPr>
        <p:spPr>
          <a:xfrm rot="8270901">
            <a:off x="4806291" y="3485316"/>
            <a:ext cx="1188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Left 12">
            <a:extLst>
              <a:ext uri="{FF2B5EF4-FFF2-40B4-BE49-F238E27FC236}">
                <a16:creationId xmlns:a16="http://schemas.microsoft.com/office/drawing/2014/main" id="{73F7FD17-F9E2-29C5-9251-68BBC81B0A08}"/>
              </a:ext>
            </a:extLst>
          </p:cNvPr>
          <p:cNvSpPr/>
          <p:nvPr/>
        </p:nvSpPr>
        <p:spPr>
          <a:xfrm rot="12957092">
            <a:off x="4656069" y="4619889"/>
            <a:ext cx="1188000" cy="166445"/>
          </a:xfrm>
          <a:prstGeom prst="leftArrow">
            <a:avLst/>
          </a:prstGeom>
          <a:solidFill>
            <a:srgbClr val="FF626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2C51FC-8CE4-F972-F106-4BE21376D16C}"/>
                  </a:ext>
                </a:extLst>
              </p:cNvPr>
              <p:cNvSpPr txBox="1"/>
              <p:nvPr/>
            </p:nvSpPr>
            <p:spPr>
              <a:xfrm>
                <a:off x="4991922" y="4704373"/>
                <a:ext cx="1977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2C51FC-8CE4-F972-F106-4BE21376D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1922" y="4704373"/>
                <a:ext cx="197746" cy="276999"/>
              </a:xfrm>
              <a:prstGeom prst="rect">
                <a:avLst/>
              </a:prstGeom>
              <a:blipFill>
                <a:blip r:embed="rId4"/>
                <a:stretch>
                  <a:fillRect l="-18750" r="-1562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84883E-049D-FC7E-156E-A1A525F4E67F}"/>
                  </a:ext>
                </a:extLst>
              </p:cNvPr>
              <p:cNvSpPr txBox="1"/>
              <p:nvPr/>
            </p:nvSpPr>
            <p:spPr>
              <a:xfrm>
                <a:off x="4052773" y="2941119"/>
                <a:ext cx="292452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  <a:p>
                <a:endParaRPr lang="en-GB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84883E-049D-FC7E-156E-A1A525F4E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2773" y="2941119"/>
                <a:ext cx="292452" cy="55399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CAE8A9-C798-CE2F-45A0-BCE7983EE7DC}"/>
                  </a:ext>
                </a:extLst>
              </p:cNvPr>
              <p:cNvSpPr txBox="1"/>
              <p:nvPr/>
            </p:nvSpPr>
            <p:spPr>
              <a:xfrm>
                <a:off x="3386303" y="4108988"/>
                <a:ext cx="180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58CAE8A9-C798-CE2F-45A0-BCE7983EE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6303" y="4108988"/>
                <a:ext cx="180947" cy="276999"/>
              </a:xfrm>
              <a:prstGeom prst="rect">
                <a:avLst/>
              </a:prstGeom>
              <a:blipFill>
                <a:blip r:embed="rId6"/>
                <a:stretch>
                  <a:fillRect l="-30000" r="-26667" b="-2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091539-7AFB-B525-0462-A6D21685A8D0}"/>
                  </a:ext>
                </a:extLst>
              </p:cNvPr>
              <p:cNvSpPr txBox="1"/>
              <p:nvPr/>
            </p:nvSpPr>
            <p:spPr>
              <a:xfrm>
                <a:off x="5520071" y="3547943"/>
                <a:ext cx="180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091539-7AFB-B525-0462-A6D21685A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0071" y="3547943"/>
                <a:ext cx="180947" cy="276999"/>
              </a:xfrm>
              <a:prstGeom prst="rect">
                <a:avLst/>
              </a:prstGeom>
              <a:blipFill>
                <a:blip r:embed="rId7"/>
                <a:stretch>
                  <a:fillRect l="-34483" r="-27586" b="-2444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$&#10;&#10;\end{document}&#10;" title="IguanaTex Picture Display">
            <a:extLst>
              <a:ext uri="{FF2B5EF4-FFF2-40B4-BE49-F238E27FC236}">
                <a16:creationId xmlns:a16="http://schemas.microsoft.com/office/drawing/2014/main" id="{5C81E01C-214C-EC48-3D66-74FD0BB81E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1760" y="4427317"/>
            <a:ext cx="68571" cy="169143"/>
          </a:xfrm>
          <a:prstGeom prst="rect">
            <a:avLst/>
          </a:prstGeom>
        </p:spPr>
      </p:pic>
      <p:pic>
        <p:nvPicPr>
          <p:cNvPr id="31" name="Picture 30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-1$&#10;&#10;\end{document}&#10;" title="IguanaTex Picture Display">
            <a:extLst>
              <a:ext uri="{FF2B5EF4-FFF2-40B4-BE49-F238E27FC236}">
                <a16:creationId xmlns:a16="http://schemas.microsoft.com/office/drawing/2014/main" id="{76990B1B-586D-4650-9B73-9EDCB8B645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870" y="5463646"/>
            <a:ext cx="496762" cy="170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698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0" grpId="0" animBg="1"/>
      <p:bldP spid="11" grpId="0" animBg="1"/>
      <p:bldP spid="11" grpId="1" animBg="1"/>
      <p:bldP spid="13" grpId="0" animBg="1"/>
      <p:bldP spid="13" grpId="1" animBg="1"/>
      <p:bldP spid="16" grpId="0"/>
      <p:bldP spid="16" grpId="1"/>
      <p:bldP spid="20" grpId="0"/>
      <p:bldP spid="21" grpId="0"/>
      <p:bldP spid="21" grpId="1"/>
      <p:bldP spid="24" grpId="0"/>
      <p:bldP spid="24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8908-4060-DC71-A2C7-F9D47D12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40D1-4E68-96E5-795D-D848919E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node2vec </a:t>
            </a:r>
            <a:r>
              <a:rPr lang="de-DE" dirty="0" err="1">
                <a:solidFill>
                  <a:srgbClr val="26457C"/>
                </a:solidFill>
              </a:rPr>
              <a:t>random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walks</a:t>
            </a:r>
            <a:endParaRPr lang="en-GB" dirty="0">
              <a:solidFill>
                <a:srgbClr val="26457C"/>
              </a:solidFill>
            </a:endParaRPr>
          </a:p>
        </p:txBody>
      </p:sp>
      <p:sp>
        <p:nvSpPr>
          <p:cNvPr id="3" name="Flowchart: Connector 2">
            <a:extLst>
              <a:ext uri="{FF2B5EF4-FFF2-40B4-BE49-F238E27FC236}">
                <a16:creationId xmlns:a16="http://schemas.microsoft.com/office/drawing/2014/main" id="{128EBF4A-A21E-BCDA-5325-6434558F1FC2}"/>
              </a:ext>
            </a:extLst>
          </p:cNvPr>
          <p:cNvSpPr/>
          <p:nvPr/>
        </p:nvSpPr>
        <p:spPr>
          <a:xfrm rot="21147049">
            <a:off x="2799972" y="2383272"/>
            <a:ext cx="457200" cy="457200"/>
          </a:xfrm>
          <a:prstGeom prst="flowChartConnector">
            <a:avLst/>
          </a:prstGeom>
          <a:solidFill>
            <a:srgbClr val="767171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" name="Flowchart: Connector 4">
            <a:extLst>
              <a:ext uri="{FF2B5EF4-FFF2-40B4-BE49-F238E27FC236}">
                <a16:creationId xmlns:a16="http://schemas.microsoft.com/office/drawing/2014/main" id="{626D35EE-7B59-EF1D-2255-440EF307BA14}"/>
              </a:ext>
            </a:extLst>
          </p:cNvPr>
          <p:cNvSpPr/>
          <p:nvPr/>
        </p:nvSpPr>
        <p:spPr>
          <a:xfrm rot="20754993">
            <a:off x="2221296" y="4874015"/>
            <a:ext cx="457200" cy="457200"/>
          </a:xfrm>
          <a:prstGeom prst="flowChartConnector">
            <a:avLst/>
          </a:prstGeom>
          <a:noFill/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EC1E514B-9B77-DC5A-6B0E-99921756AECB}"/>
              </a:ext>
            </a:extLst>
          </p:cNvPr>
          <p:cNvSpPr/>
          <p:nvPr/>
        </p:nvSpPr>
        <p:spPr>
          <a:xfrm>
            <a:off x="5686893" y="2675791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585E8886-8BD0-B920-9FEC-7B5B8B79BC8C}"/>
              </a:ext>
            </a:extLst>
          </p:cNvPr>
          <p:cNvSpPr/>
          <p:nvPr/>
        </p:nvSpPr>
        <p:spPr>
          <a:xfrm>
            <a:off x="4425882" y="3857243"/>
            <a:ext cx="457200" cy="457200"/>
          </a:xfrm>
          <a:prstGeom prst="flowChartConnector">
            <a:avLst/>
          </a:prstGeom>
          <a:solidFill>
            <a:srgbClr val="D0CECE"/>
          </a:solidFill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A0FDC5F6-1711-2E97-39DE-0605CF957FD0}"/>
              </a:ext>
            </a:extLst>
          </p:cNvPr>
          <p:cNvSpPr/>
          <p:nvPr/>
        </p:nvSpPr>
        <p:spPr>
          <a:xfrm rot="21017207">
            <a:off x="5789140" y="4874015"/>
            <a:ext cx="457200" cy="457200"/>
          </a:xfrm>
          <a:prstGeom prst="flowChartConnector">
            <a:avLst/>
          </a:prstGeom>
          <a:ln w="28575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30008C5-DFF7-49B4-FF12-4CE5420F30FC}"/>
              </a:ext>
            </a:extLst>
          </p:cNvPr>
          <p:cNvCxnSpPr>
            <a:cxnSpLocks/>
            <a:stCxn id="5" idx="6"/>
            <a:endCxn id="7" idx="3"/>
          </p:cNvCxnSpPr>
          <p:nvPr/>
        </p:nvCxnSpPr>
        <p:spPr>
          <a:xfrm flipV="1">
            <a:off x="2671625" y="4247488"/>
            <a:ext cx="1821212" cy="79950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501455A-4AA4-FCFC-2B3F-2A58AD832A8E}"/>
              </a:ext>
            </a:extLst>
          </p:cNvPr>
          <p:cNvCxnSpPr>
            <a:cxnSpLocks/>
            <a:stCxn id="3" idx="5"/>
            <a:endCxn id="7" idx="1"/>
          </p:cNvCxnSpPr>
          <p:nvPr/>
        </p:nvCxnSpPr>
        <p:spPr>
          <a:xfrm>
            <a:off x="3210052" y="2750879"/>
            <a:ext cx="1282785" cy="1173319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142C86-B56B-83DE-DCEB-0167A36F4FE5}"/>
              </a:ext>
            </a:extLst>
          </p:cNvPr>
          <p:cNvCxnSpPr>
            <a:cxnSpLocks/>
            <a:stCxn id="7" idx="7"/>
            <a:endCxn id="6" idx="3"/>
          </p:cNvCxnSpPr>
          <p:nvPr/>
        </p:nvCxnSpPr>
        <p:spPr>
          <a:xfrm flipV="1">
            <a:off x="4816127" y="3066036"/>
            <a:ext cx="937721" cy="85816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CAB72B3-03DC-1905-F366-4B25DBE718B0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>
            <a:off x="4816127" y="4247488"/>
            <a:ext cx="1015013" cy="72307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8FDD79E-457F-4618-5C2F-FDCCEFE601BE}"/>
              </a:ext>
            </a:extLst>
          </p:cNvPr>
          <p:cNvCxnSpPr>
            <a:cxnSpLocks/>
            <a:stCxn id="5" idx="0"/>
            <a:endCxn id="3" idx="3"/>
          </p:cNvCxnSpPr>
          <p:nvPr/>
        </p:nvCxnSpPr>
        <p:spPr>
          <a:xfrm flipV="1">
            <a:off x="2394270" y="2793352"/>
            <a:ext cx="495295" cy="208753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5" name="Straight Connector 114">
            <a:extLst>
              <a:ext uri="{FF2B5EF4-FFF2-40B4-BE49-F238E27FC236}">
                <a16:creationId xmlns:a16="http://schemas.microsoft.com/office/drawing/2014/main" id="{8F8EB713-6B23-3D7B-98A2-A06BC3A865FF}"/>
              </a:ext>
            </a:extLst>
          </p:cNvPr>
          <p:cNvCxnSpPr>
            <a:stCxn id="3" idx="0"/>
          </p:cNvCxnSpPr>
          <p:nvPr/>
        </p:nvCxnSpPr>
        <p:spPr>
          <a:xfrm flipH="1" flipV="1">
            <a:off x="2950229" y="1923693"/>
            <a:ext cx="48310" cy="46156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6" name="Straight Connector 115">
            <a:extLst>
              <a:ext uri="{FF2B5EF4-FFF2-40B4-BE49-F238E27FC236}">
                <a16:creationId xmlns:a16="http://schemas.microsoft.com/office/drawing/2014/main" id="{E7E3A711-AD1D-C8D0-E884-81AF77E18010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2449896" y="2227637"/>
            <a:ext cx="397196" cy="245228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9" name="Straight Connector 118">
            <a:extLst>
              <a:ext uri="{FF2B5EF4-FFF2-40B4-BE49-F238E27FC236}">
                <a16:creationId xmlns:a16="http://schemas.microsoft.com/office/drawing/2014/main" id="{7953FE4A-D380-1FDA-8F5B-9A449C7B6BAB}"/>
              </a:ext>
            </a:extLst>
          </p:cNvPr>
          <p:cNvCxnSpPr>
            <a:cxnSpLocks/>
          </p:cNvCxnSpPr>
          <p:nvPr/>
        </p:nvCxnSpPr>
        <p:spPr>
          <a:xfrm flipH="1" flipV="1">
            <a:off x="5788963" y="2252473"/>
            <a:ext cx="84353" cy="44078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23">
            <a:extLst>
              <a:ext uri="{FF2B5EF4-FFF2-40B4-BE49-F238E27FC236}">
                <a16:creationId xmlns:a16="http://schemas.microsoft.com/office/drawing/2014/main" id="{03FA793A-2CED-0205-554D-EAA5DEB8D596}"/>
              </a:ext>
            </a:extLst>
          </p:cNvPr>
          <p:cNvCxnSpPr>
            <a:cxnSpLocks/>
          </p:cNvCxnSpPr>
          <p:nvPr/>
        </p:nvCxnSpPr>
        <p:spPr>
          <a:xfrm flipV="1">
            <a:off x="6109929" y="2458896"/>
            <a:ext cx="320766" cy="30595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126">
            <a:extLst>
              <a:ext uri="{FF2B5EF4-FFF2-40B4-BE49-F238E27FC236}">
                <a16:creationId xmlns:a16="http://schemas.microsoft.com/office/drawing/2014/main" id="{37C313E1-FF9D-6A98-3814-CDCA13CDF916}"/>
              </a:ext>
            </a:extLst>
          </p:cNvPr>
          <p:cNvCxnSpPr>
            <a:cxnSpLocks/>
          </p:cNvCxnSpPr>
          <p:nvPr/>
        </p:nvCxnSpPr>
        <p:spPr>
          <a:xfrm flipV="1">
            <a:off x="3191872" y="2045525"/>
            <a:ext cx="211658" cy="405441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28">
            <a:extLst>
              <a:ext uri="{FF2B5EF4-FFF2-40B4-BE49-F238E27FC236}">
                <a16:creationId xmlns:a16="http://schemas.microsoft.com/office/drawing/2014/main" id="{1E376BA1-E123-9CBD-16E3-C638443781DA}"/>
              </a:ext>
            </a:extLst>
          </p:cNvPr>
          <p:cNvCxnSpPr>
            <a:cxnSpLocks/>
            <a:endCxn id="5" idx="2"/>
          </p:cNvCxnSpPr>
          <p:nvPr/>
        </p:nvCxnSpPr>
        <p:spPr>
          <a:xfrm flipV="1">
            <a:off x="1830232" y="5158241"/>
            <a:ext cx="397935" cy="16077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2" name="Straight Connector 131">
            <a:extLst>
              <a:ext uri="{FF2B5EF4-FFF2-40B4-BE49-F238E27FC236}">
                <a16:creationId xmlns:a16="http://schemas.microsoft.com/office/drawing/2014/main" id="{65FAFE63-192E-763A-2484-874D4488EB26}"/>
              </a:ext>
            </a:extLst>
          </p:cNvPr>
          <p:cNvCxnSpPr>
            <a:cxnSpLocks/>
          </p:cNvCxnSpPr>
          <p:nvPr/>
        </p:nvCxnSpPr>
        <p:spPr>
          <a:xfrm flipH="1" flipV="1">
            <a:off x="2470376" y="5319018"/>
            <a:ext cx="74411" cy="417812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Arrow: Left 3">
            <a:extLst>
              <a:ext uri="{FF2B5EF4-FFF2-40B4-BE49-F238E27FC236}">
                <a16:creationId xmlns:a16="http://schemas.microsoft.com/office/drawing/2014/main" id="{778EE74D-DC8B-D41F-27C5-C89E7A0A55EB}"/>
              </a:ext>
            </a:extLst>
          </p:cNvPr>
          <p:cNvSpPr/>
          <p:nvPr/>
        </p:nvSpPr>
        <p:spPr>
          <a:xfrm rot="17032559">
            <a:off x="1471384" y="3761383"/>
            <a:ext cx="2088000" cy="166445"/>
          </a:xfrm>
          <a:prstGeom prst="leftArrow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Arrow: Left 9">
            <a:extLst>
              <a:ext uri="{FF2B5EF4-FFF2-40B4-BE49-F238E27FC236}">
                <a16:creationId xmlns:a16="http://schemas.microsoft.com/office/drawing/2014/main" id="{91CC02E5-EAA2-9B4E-50FA-D255DF2C71D7}"/>
              </a:ext>
            </a:extLst>
          </p:cNvPr>
          <p:cNvSpPr/>
          <p:nvPr/>
        </p:nvSpPr>
        <p:spPr>
          <a:xfrm rot="13365481">
            <a:off x="2961729" y="3343080"/>
            <a:ext cx="1656000" cy="166445"/>
          </a:xfrm>
          <a:prstGeom prst="lef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Arrow: Left 10">
            <a:extLst>
              <a:ext uri="{FF2B5EF4-FFF2-40B4-BE49-F238E27FC236}">
                <a16:creationId xmlns:a16="http://schemas.microsoft.com/office/drawing/2014/main" id="{AB598BA5-2D30-386F-8162-784A98361B74}"/>
              </a:ext>
            </a:extLst>
          </p:cNvPr>
          <p:cNvSpPr/>
          <p:nvPr/>
        </p:nvSpPr>
        <p:spPr>
          <a:xfrm rot="7134256">
            <a:off x="3192893" y="2165021"/>
            <a:ext cx="504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2C51FC-8CE4-F972-F106-4BE21376D16C}"/>
                  </a:ext>
                </a:extLst>
              </p:cNvPr>
              <p:cNvSpPr txBox="1"/>
              <p:nvPr/>
            </p:nvSpPr>
            <p:spPr>
              <a:xfrm>
                <a:off x="3513072" y="3404597"/>
                <a:ext cx="197746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GB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E2C51FC-8CE4-F972-F106-4BE21376D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3072" y="3404597"/>
                <a:ext cx="197746" cy="276999"/>
              </a:xfrm>
              <a:prstGeom prst="rect">
                <a:avLst/>
              </a:prstGeom>
              <a:blipFill>
                <a:blip r:embed="rId4"/>
                <a:stretch>
                  <a:fillRect l="-18182" r="-1212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84883E-049D-FC7E-156E-A1A525F4E67F}"/>
                  </a:ext>
                </a:extLst>
              </p:cNvPr>
              <p:cNvSpPr txBox="1"/>
              <p:nvPr/>
            </p:nvSpPr>
            <p:spPr>
              <a:xfrm>
                <a:off x="2228167" y="3528346"/>
                <a:ext cx="199350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4472C4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GB" dirty="0">
                  <a:solidFill>
                    <a:srgbClr val="4472C4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984883E-049D-FC7E-156E-A1A525F4E6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8167" y="3528346"/>
                <a:ext cx="199350" cy="276999"/>
              </a:xfrm>
              <a:prstGeom prst="rect">
                <a:avLst/>
              </a:prstGeom>
              <a:blipFill>
                <a:blip r:embed="rId5"/>
                <a:stretch>
                  <a:fillRect l="-43750" t="-2222" r="-40625" b="-3555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091539-7AFB-B525-0462-A6D21685A8D0}"/>
                  </a:ext>
                </a:extLst>
              </p:cNvPr>
              <p:cNvSpPr txBox="1"/>
              <p:nvPr/>
            </p:nvSpPr>
            <p:spPr>
              <a:xfrm>
                <a:off x="3200634" y="1891741"/>
                <a:ext cx="180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1091539-7AFB-B525-0462-A6D21685A8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634" y="1891741"/>
                <a:ext cx="180947" cy="276999"/>
              </a:xfrm>
              <a:prstGeom prst="rect">
                <a:avLst/>
              </a:prstGeom>
              <a:blipFill>
                <a:blip r:embed="rId6"/>
                <a:stretch>
                  <a:fillRect l="-30000" r="-26667" b="-217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" name="Picture 28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$&#10;&#10;\end{document}&#10;" title="IguanaTex Picture Display">
            <a:extLst>
              <a:ext uri="{FF2B5EF4-FFF2-40B4-BE49-F238E27FC236}">
                <a16:creationId xmlns:a16="http://schemas.microsoft.com/office/drawing/2014/main" id="{5C81E01C-214C-EC48-3D66-74FD0BB81EE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3998" y="2963848"/>
            <a:ext cx="68571" cy="169143"/>
          </a:xfrm>
          <a:prstGeom prst="rect">
            <a:avLst/>
          </a:prstGeom>
        </p:spPr>
      </p:pic>
      <p:pic>
        <p:nvPicPr>
          <p:cNvPr id="31" name="Picture 30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-1$&#10;&#10;\end{document}&#10;" title="IguanaTex Picture Display">
            <a:extLst>
              <a:ext uri="{FF2B5EF4-FFF2-40B4-BE49-F238E27FC236}">
                <a16:creationId xmlns:a16="http://schemas.microsoft.com/office/drawing/2014/main" id="{76990B1B-586D-4650-9B73-9EDCB8B645CD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91" y="4424715"/>
            <a:ext cx="496762" cy="1706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7D3524-DA1A-62F3-5286-2F4DF10EFACB}"/>
                  </a:ext>
                </a:extLst>
              </p:cNvPr>
              <p:cNvSpPr txBox="1"/>
              <p:nvPr/>
            </p:nvSpPr>
            <p:spPr>
              <a:xfrm>
                <a:off x="2664219" y="1872675"/>
                <a:ext cx="180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D7D3524-DA1A-62F3-5286-2F4DF10EFA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4219" y="1872675"/>
                <a:ext cx="180947" cy="276999"/>
              </a:xfrm>
              <a:prstGeom prst="rect">
                <a:avLst/>
              </a:prstGeom>
              <a:blipFill>
                <a:blip r:embed="rId9"/>
                <a:stretch>
                  <a:fillRect l="-30000" r="-26667" b="-217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663856-C0CB-4BE2-4E07-9BE92645109D}"/>
                  </a:ext>
                </a:extLst>
              </p:cNvPr>
              <p:cNvSpPr txBox="1"/>
              <p:nvPr/>
            </p:nvSpPr>
            <p:spPr>
              <a:xfrm>
                <a:off x="3521472" y="2190360"/>
                <a:ext cx="180947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l-GR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</m:oMath>
                  </m:oMathPara>
                </a14:m>
                <a:endParaRPr lang="en-GB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D663856-C0CB-4BE2-4E07-9BE9264510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1472" y="2190360"/>
                <a:ext cx="180947" cy="276999"/>
              </a:xfrm>
              <a:prstGeom prst="rect">
                <a:avLst/>
              </a:prstGeom>
              <a:blipFill>
                <a:blip r:embed="rId10"/>
                <a:stretch>
                  <a:fillRect l="-34483" r="-27586" b="-2173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Arrow: Left 17">
            <a:extLst>
              <a:ext uri="{FF2B5EF4-FFF2-40B4-BE49-F238E27FC236}">
                <a16:creationId xmlns:a16="http://schemas.microsoft.com/office/drawing/2014/main" id="{A41CB483-AAA1-C60A-2FCC-49C97801945D}"/>
              </a:ext>
            </a:extLst>
          </p:cNvPr>
          <p:cNvSpPr/>
          <p:nvPr/>
        </p:nvSpPr>
        <p:spPr>
          <a:xfrm rot="5154219">
            <a:off x="2868042" y="2003098"/>
            <a:ext cx="504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ED3444DB-DF69-C40E-9480-7D7C9E120837}"/>
              </a:ext>
            </a:extLst>
          </p:cNvPr>
          <p:cNvSpPr/>
          <p:nvPr/>
        </p:nvSpPr>
        <p:spPr>
          <a:xfrm rot="1993027">
            <a:off x="2409207" y="2140118"/>
            <a:ext cx="504000" cy="166445"/>
          </a:xfrm>
          <a:prstGeom prst="left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6731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0" grpId="0" animBg="1"/>
      <p:bldP spid="10" grpId="1" animBg="1"/>
      <p:bldP spid="11" grpId="0" animBg="1"/>
      <p:bldP spid="11" grpId="1" animBg="1"/>
      <p:bldP spid="16" grpId="0"/>
      <p:bldP spid="16" grpId="1"/>
      <p:bldP spid="20" grpId="0"/>
      <p:bldP spid="24" grpId="0"/>
      <p:bldP spid="24" grpId="1"/>
      <p:bldP spid="9" grpId="0"/>
      <p:bldP spid="9" grpId="1"/>
      <p:bldP spid="15" grpId="0"/>
      <p:bldP spid="15" grpId="1"/>
      <p:bldP spid="18" grpId="0" animBg="1"/>
      <p:bldP spid="18" grpId="1" animBg="1"/>
      <p:bldP spid="19" grpId="0" animBg="1"/>
      <p:bldP spid="19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68908-4060-DC71-A2C7-F9D47D12B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EC40D1-4E68-96E5-795D-D848919E0B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node2vec </a:t>
            </a:r>
            <a:r>
              <a:rPr lang="de-DE" dirty="0" err="1">
                <a:solidFill>
                  <a:srgbClr val="26457C"/>
                </a:solidFill>
              </a:rPr>
              <a:t>random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walks</a:t>
            </a:r>
            <a:endParaRPr lang="en-GB" dirty="0">
              <a:solidFill>
                <a:srgbClr val="26457C"/>
              </a:solidFill>
            </a:endParaRPr>
          </a:p>
        </p:txBody>
      </p:sp>
      <p:pic>
        <p:nvPicPr>
          <p:cNvPr id="4" name="Grafik 3" descr="\documentclass{article}&#10;\usepackage[english]{babel}&#10;\usepackage{amsmath}&#10;\usepackage{amsthm}&#10;\usepackage{amsfonts}&#10;\providecommand{\E}{\mathbb E}&#10;\newcommand{\NN}{\mathbb{N}}&#10;\newcommand{\PP}{\mathbb{P}}&#10;\newtheorem*{theorem*}{Theorem}&#10;\newtheorem*{definition*}{Definition}&#10;\pagestyle{empty}&#10;\begin{document}&#10;&#10;\begin{definition*}[node2vec random walk] \ \\&#10;\begin{itemize}&#10;\item $G = (V,E)$ undirected graph &#10;\end{itemize}&#10;For $(v,w) \in E$, a random walk $(X_i)_{i\in \NN_0}$ is \textbf{node2vec} if&#10;    \begin{align*}&#10;        \PP(X_{i+1}=w|X_{i}=v,X_{i-1}=u) \propto \begin{cases}&#10;  \alpha ~\text{ if } u=w\\&#10;        \beta ~\text{ if } (u,w)\in E\\&#10;        \gamma ~\text{ if } (u,w)\notin E ~\text{ and } u\neq w\\&#10;   0 ~\text{ otherwise}.&#10; \end{cases}&#10;    \end{align*}&#10;\end{definition*}&#10;&#10;\end{document}&#10;" title="IguanaTex Bitmap Display">
            <a:extLst>
              <a:ext uri="{FF2B5EF4-FFF2-40B4-BE49-F238E27FC236}">
                <a16:creationId xmlns:a16="http://schemas.microsoft.com/office/drawing/2014/main" id="{589700FB-2B75-A465-3F75-4E5D20C69D6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72" y="1530709"/>
            <a:ext cx="7715055" cy="3257896"/>
          </a:xfrm>
          <a:prstGeom prst="rect">
            <a:avLst/>
          </a:prstGeom>
        </p:spPr>
      </p:pic>
      <p:pic>
        <p:nvPicPr>
          <p:cNvPr id="18" name="Picture 17" descr="\documentclass{article}&#10;\usepackage[english]{babel}&#10;\usepackage{amsmath}&#10;\usepackage{amsthm}&#10;\usepackage{amsfonts}&#10;\providecommand{\E}{\mathbb E}&#10;\newcommand{\NN}{\mathbb{N}}&#10;\newcommand{\PP}{\mathbb{P}}&#10;\newtheorem*{theorem*}{Theorem}&#10;\pagestyle{empty}&#10;\begin{document}&#10;&#10;Special cases include:&#10;\begin{itemize}&#10;\item Simple random walk for $\alpha = \beta = \gamma$&#10;\item Non-backtracking random walk for $\alpha =0,\beta = \gamma$.&#10;\end{itemize}&#10;&#10;\end{document}&#10;" title="IguanaTex Picture Display">
            <a:extLst>
              <a:ext uri="{FF2B5EF4-FFF2-40B4-BE49-F238E27FC236}">
                <a16:creationId xmlns:a16="http://schemas.microsoft.com/office/drawing/2014/main" id="{7895D2C6-46BA-1917-AC37-98060FD45918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972" y="5009643"/>
            <a:ext cx="5603047" cy="1244952"/>
          </a:xfrm>
          <a:prstGeom prst="rect">
            <a:avLst/>
          </a:prstGeom>
        </p:spPr>
      </p:pic>
      <p:pic>
        <p:nvPicPr>
          <p:cNvPr id="27" name="Picture 26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\begin{itemize}&#10;\item $\alpha,\beta,\gamma \ge 0$&#10;\end{itemize}&#10;&#10;\end{document}&#10;" title="IguanaTex Picture Display">
            <a:extLst>
              <a:ext uri="{FF2B5EF4-FFF2-40B4-BE49-F238E27FC236}">
                <a16:creationId xmlns:a16="http://schemas.microsoft.com/office/drawing/2014/main" id="{39C71D1D-3C75-5A62-CA6A-2351A4A39777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7160" y="1911723"/>
            <a:ext cx="1383619" cy="234667"/>
          </a:xfrm>
          <a:prstGeom prst="rect">
            <a:avLst/>
          </a:prstGeom>
        </p:spPr>
      </p:pic>
      <p:pic>
        <p:nvPicPr>
          <p:cNvPr id="58" name="Picture 57" descr="A diagram of a diagram of a connection&#10;&#10;Description automatically generated with medium confidence">
            <a:extLst>
              <a:ext uri="{FF2B5EF4-FFF2-40B4-BE49-F238E27FC236}">
                <a16:creationId xmlns:a16="http://schemas.microsoft.com/office/drawing/2014/main" id="{BB91FB74-35F8-4CA2-0D23-0F189EA4819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8918" y="463440"/>
            <a:ext cx="3834020" cy="3131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653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F7B3D-3659-A0F2-1EB1-D331556C7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CAD77-8073-298C-1CC0-A01F7F3A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Motivation: node2vec </a:t>
            </a:r>
            <a:r>
              <a:rPr lang="de-DE" dirty="0" err="1">
                <a:solidFill>
                  <a:srgbClr val="26457C"/>
                </a:solidFill>
              </a:rPr>
              <a:t>algorithm</a:t>
            </a:r>
            <a:endParaRPr lang="en-GB" dirty="0">
              <a:solidFill>
                <a:srgbClr val="26457C"/>
              </a:solidFill>
            </a:endParaRP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BB75EF88-8B92-8E3D-4823-D9566CE2CEF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4943" y="3121221"/>
          <a:ext cx="4726740" cy="2694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5" imgW="2539858" imgH="1447800" progId="Acrobat.Document.DC">
                  <p:embed/>
                </p:oleObj>
              </mc:Choice>
              <mc:Fallback>
                <p:oleObj name="Acrobat Document" r:id="rId5" imgW="2539858" imgH="1447800" progId="Acrobat.Document.DC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BB75EF88-8B92-8E3D-4823-D9566CE2CEF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4943" y="3121221"/>
                        <a:ext cx="4726740" cy="26942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64DF7E1D-FBFC-1797-F82B-DAC56713388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67927" y="3121222"/>
          <a:ext cx="4646069" cy="269424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Acrobat Document" r:id="rId7" imgW="2463551" imgH="1428536" progId="Acrobat.Document.DC">
                  <p:embed/>
                </p:oleObj>
              </mc:Choice>
              <mc:Fallback>
                <p:oleObj name="Acrobat Document" r:id="rId7" imgW="2463551" imgH="1428536" progId="Acrobat.Document.DC">
                  <p:embed/>
                  <p:pic>
                    <p:nvPicPr>
                      <p:cNvPr id="5" name="Object 4">
                        <a:extLst>
                          <a:ext uri="{FF2B5EF4-FFF2-40B4-BE49-F238E27FC236}">
                            <a16:creationId xmlns:a16="http://schemas.microsoft.com/office/drawing/2014/main" id="{64DF7E1D-FBFC-1797-F82B-DAC5671338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6467927" y="3121222"/>
                        <a:ext cx="4646069" cy="269424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16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\noindent&#10;Source: node2vec: Scalable Feature Learning for Networks, Grover \&amp; Leskovic&#10;&#10;\end{document}&#10;" title="IguanaTex Picture Display">
            <a:extLst>
              <a:ext uri="{FF2B5EF4-FFF2-40B4-BE49-F238E27FC236}">
                <a16:creationId xmlns:a16="http://schemas.microsoft.com/office/drawing/2014/main" id="{3494B7AD-FB8D-81B1-BAF7-BED4755E911E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2483" y="6629015"/>
            <a:ext cx="6064000" cy="163200"/>
          </a:xfrm>
          <a:prstGeom prst="rect">
            <a:avLst/>
          </a:prstGeom>
        </p:spPr>
      </p:pic>
      <p:pic>
        <p:nvPicPr>
          <p:cNvPr id="23" name="Picture 22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\noindent Fig. 1: Colors correspond to communities&#10;&#10;\end{document}&#10;" title="IguanaTex Picture Display">
            <a:extLst>
              <a:ext uri="{FF2B5EF4-FFF2-40B4-BE49-F238E27FC236}">
                <a16:creationId xmlns:a16="http://schemas.microsoft.com/office/drawing/2014/main" id="{B43BA67B-7424-C87A-311D-CC6716F16D0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050" y="6036814"/>
            <a:ext cx="3227734" cy="161066"/>
          </a:xfrm>
          <a:prstGeom prst="rect">
            <a:avLst/>
          </a:prstGeom>
        </p:spPr>
      </p:pic>
      <p:pic>
        <p:nvPicPr>
          <p:cNvPr id="25" name="Picture 24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\noindent Fig. 2: Colors correspond to structural equivalence&#10;&#10;\end{document}&#10;" title="IguanaTex Picture Display">
            <a:extLst>
              <a:ext uri="{FF2B5EF4-FFF2-40B4-BE49-F238E27FC236}">
                <a16:creationId xmlns:a16="http://schemas.microsoft.com/office/drawing/2014/main" id="{AA20DDC9-C543-958A-31ED-179F61D1DB22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5950" y="6036814"/>
            <a:ext cx="3952000" cy="16106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CF5391E-629F-F304-433A-70631F9AE5BD}"/>
                  </a:ext>
                </a:extLst>
              </p:cNvPr>
              <p:cNvSpPr txBox="1"/>
              <p:nvPr/>
            </p:nvSpPr>
            <p:spPr>
              <a:xfrm>
                <a:off x="1895842" y="2252066"/>
                <a:ext cx="2611455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=0.5,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=0.5,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C591A4A-6609-4878-D85E-49946217F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5842" y="2252066"/>
                <a:ext cx="2611455" cy="307777"/>
              </a:xfrm>
              <a:prstGeom prst="rect">
                <a:avLst/>
              </a:prstGeom>
              <a:blipFill>
                <a:blip r:embed="rId12"/>
                <a:stretch>
                  <a:fillRect r="-467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E2C17F3-F35C-E35F-B1FA-245F32202631}"/>
                  </a:ext>
                </a:extLst>
              </p:cNvPr>
              <p:cNvSpPr txBox="1"/>
              <p:nvPr/>
            </p:nvSpPr>
            <p:spPr>
              <a:xfrm>
                <a:off x="7716981" y="2252066"/>
                <a:ext cx="214796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=2,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=2,</m:t>
                      </m:r>
                      <m:r>
                        <a:rPr lang="en-GB" sz="20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𝛾</m:t>
                      </m:r>
                      <m:r>
                        <a:rPr lang="de-DE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F48FBB7-CD02-82C2-6A26-8CE625745C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6981" y="2252066"/>
                <a:ext cx="2147960" cy="307777"/>
              </a:xfrm>
              <a:prstGeom prst="rect">
                <a:avLst/>
              </a:prstGeom>
              <a:blipFill>
                <a:blip r:embed="rId13"/>
                <a:stretch>
                  <a:fillRect l="-1420" r="-2273" b="-3333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0521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81164-4DA8-7E64-C2EC-4FF5E4781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6056" y="313367"/>
            <a:ext cx="10515600" cy="1325563"/>
          </a:xfrm>
        </p:spPr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node2vec: A </a:t>
            </a:r>
            <a:r>
              <a:rPr lang="de-DE" dirty="0" err="1">
                <a:solidFill>
                  <a:srgbClr val="26457C"/>
                </a:solidFill>
              </a:rPr>
              <a:t>markov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chain</a:t>
            </a:r>
            <a:r>
              <a:rPr lang="de-DE" dirty="0">
                <a:solidFill>
                  <a:srgbClr val="26457C"/>
                </a:solidFill>
              </a:rPr>
              <a:t>?</a:t>
            </a:r>
            <a:endParaRPr lang="en-GB" dirty="0">
              <a:solidFill>
                <a:srgbClr val="26457C"/>
              </a:solidFill>
            </a:endParaRPr>
          </a:p>
        </p:txBody>
      </p:sp>
      <p:pic>
        <p:nvPicPr>
          <p:cNvPr id="4" name="Grafik 3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\noindent &#10;\textbf{Problem:} The node2vec random walk\\ on a graph is not a Markov chain.&#10;&#10;\end{document}&#10;" title="IguanaTex Bitmap Display">
            <a:extLst>
              <a:ext uri="{FF2B5EF4-FFF2-40B4-BE49-F238E27FC236}">
                <a16:creationId xmlns:a16="http://schemas.microsoft.com/office/drawing/2014/main" id="{6D649C87-05B4-ABE1-A4FA-36504F2F58A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4" y="4371319"/>
            <a:ext cx="4309333" cy="530286"/>
          </a:xfrm>
          <a:prstGeom prst="rect">
            <a:avLst/>
          </a:prstGeom>
        </p:spPr>
      </p:pic>
      <p:pic>
        <p:nvPicPr>
          <p:cNvPr id="24" name="Picture 23" descr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\noindent&#10;\textbf{Solution:} Change the state space\\ to the directed edges.&#10;&#10;\end{document}&#10;" title="IguanaTex Picture Display">
            <a:extLst>
              <a:ext uri="{FF2B5EF4-FFF2-40B4-BE49-F238E27FC236}">
                <a16:creationId xmlns:a16="http://schemas.microsoft.com/office/drawing/2014/main" id="{3F533C3C-6B56-7DAA-D093-3F30A75338CC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548" y="4369797"/>
            <a:ext cx="3791237" cy="533333"/>
          </a:xfrm>
          <a:prstGeom prst="rect">
            <a:avLst/>
          </a:prstGeom>
        </p:spPr>
      </p:pic>
      <p:pic>
        <p:nvPicPr>
          <p:cNvPr id="72" name="Picture 71" descr="A diagram of a diagram of a connection&#10;&#10;Description automatically generated with medium confidence">
            <a:extLst>
              <a:ext uri="{FF2B5EF4-FFF2-40B4-BE49-F238E27FC236}">
                <a16:creationId xmlns:a16="http://schemas.microsoft.com/office/drawing/2014/main" id="{9F9D138F-EC39-D9F2-18DC-4456C4D3220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2724" y="1330108"/>
            <a:ext cx="3644952" cy="2976821"/>
          </a:xfrm>
          <a:prstGeom prst="rect">
            <a:avLst/>
          </a:prstGeom>
        </p:spPr>
      </p:pic>
      <p:pic>
        <p:nvPicPr>
          <p:cNvPr id="94" name="Picture 93" descr="A diagram of a network&#10;&#10;Description automatically generated">
            <a:extLst>
              <a:ext uri="{FF2B5EF4-FFF2-40B4-BE49-F238E27FC236}">
                <a16:creationId xmlns:a16="http://schemas.microsoft.com/office/drawing/2014/main" id="{FC690744-9C52-0BF7-7B86-F8F408B21E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547" y="1313249"/>
            <a:ext cx="3644952" cy="2988486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44B3ECC-F6E0-9381-71F2-8A8D6797564B}"/>
              </a:ext>
            </a:extLst>
          </p:cNvPr>
          <p:cNvCxnSpPr/>
          <p:nvPr/>
        </p:nvCxnSpPr>
        <p:spPr>
          <a:xfrm>
            <a:off x="4796287" y="2807492"/>
            <a:ext cx="1299713" cy="0"/>
          </a:xfrm>
          <a:prstGeom prst="straightConnector1">
            <a:avLst/>
          </a:prstGeom>
          <a:ln>
            <a:solidFill>
              <a:srgbClr val="26457C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847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5A806-0D8E-1CFB-54DD-5430A69CC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5FB6C-A085-7FCF-0BB3-506302C7C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The </a:t>
            </a:r>
            <a:r>
              <a:rPr lang="de-DE" dirty="0" err="1">
                <a:solidFill>
                  <a:srgbClr val="26457C"/>
                </a:solidFill>
              </a:rPr>
              <a:t>wedge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space</a:t>
            </a:r>
            <a:endParaRPr lang="en-GB" dirty="0"/>
          </a:p>
        </p:txBody>
      </p:sp>
      <p:pic>
        <p:nvPicPr>
          <p:cNvPr id="9" name="Grafik 8" descr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{theorem}{Theorem}[section]&#10;\newtheorem*{theorem*}{Theorem}&#10;&#10;\begin{document}&#10;\noindent To separate the state space into the types $\alpha, \beta$ and $\gamma$, go to the wedge space:&#10;\begin{align*}&#10;    W(G) := \{ w = (w(1),w(2),w(3)) = (v_1,v_2,v_3):  v_1,v_2,v_3 \in V, (v_1,v_2) \in E, (v_2,v_3) \in E\}.&#10;\end{align*}&#10;Then, every $w\in W(G)$ has type $\lambda(w)\in \{ \alpha,\beta, \gamma \}$. \\&#10;\ \\&#10;&#10;\end{document}" title="IguanaTex Bitmap Display">
            <a:extLst>
              <a:ext uri="{FF2B5EF4-FFF2-40B4-BE49-F238E27FC236}">
                <a16:creationId xmlns:a16="http://schemas.microsoft.com/office/drawing/2014/main" id="{CB118228-E170-4972-D8ED-B4F10963E838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37" y="1429570"/>
            <a:ext cx="9754230" cy="136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3179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C86E7-297A-5CA7-2460-30A8EE680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0523A2-5023-14A9-6288-F5F1CB36A7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The </a:t>
            </a:r>
            <a:r>
              <a:rPr lang="de-DE" dirty="0" err="1">
                <a:solidFill>
                  <a:srgbClr val="26457C"/>
                </a:solidFill>
              </a:rPr>
              <a:t>wedge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space</a:t>
            </a:r>
            <a:endParaRPr lang="en-GB" dirty="0"/>
          </a:p>
        </p:txBody>
      </p:sp>
      <p:pic>
        <p:nvPicPr>
          <p:cNvPr id="4" name="Grafik 3" descr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{theorem}{Theorem}[section]&#10;\newtheorem*{theorem*}{Theorem}&#10;&#10;\begin{document}&#10;\noindent To separate the state space into the types $\alpha, \beta$ and $\gamma$, go to the wedge space:&#10;\begin{align*}&#10;    W(G) := \{ w = (w(1),w(2),w(3)) = (v_1,v_2,v_3):  v_1,v_2,v_3 \in V, (v_1,v_2) \in E, (v_2,v_3) \in E\}.&#10;\end{align*}&#10;Then, every $w\in W(G)$ has type $\lambda(w)\in \{ \alpha,\beta, \gamma \}$. \\&#10;\ \\&#10;Transitions:&#10;\begin{align*}&#10;      \hP(w,w') &amp;= \PP(X_4 = w'(3)| X_3 = w'(2), X_2 = w'(1))\indic_{ \{ w \in IN(w')  \}} \\&#10;&amp;= \frac{\lambda(w')}{\sum_{w^*\in ON(w')}\lambda(w^*)}\indic_{ \{ w \in IN(w')  \}}.&#10;\end{align*}&#10;&#10;&#10;\end{document}" title="IguanaTex Bitmap Display">
            <a:extLst>
              <a:ext uri="{FF2B5EF4-FFF2-40B4-BE49-F238E27FC236}">
                <a16:creationId xmlns:a16="http://schemas.microsoft.com/office/drawing/2014/main" id="{88A12211-95AF-BB60-ED10-1047D07AAA72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37" y="1429570"/>
            <a:ext cx="9754230" cy="3323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2035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2E208-FD0D-D0BB-4B8F-1BD9EE7E1A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1D354-D292-8D34-6E1A-00DADEF8E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The </a:t>
            </a:r>
            <a:r>
              <a:rPr lang="de-DE" dirty="0" err="1">
                <a:solidFill>
                  <a:srgbClr val="26457C"/>
                </a:solidFill>
              </a:rPr>
              <a:t>wedge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space</a:t>
            </a:r>
            <a:endParaRPr lang="en-GB" dirty="0"/>
          </a:p>
        </p:txBody>
      </p:sp>
      <p:pic>
        <p:nvPicPr>
          <p:cNvPr id="4" name="Grafik 3" descr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{theorem}{Theorem}[section]&#10;\newtheorem*{theorem*}{Theorem}&#10;&#10;\begin{document}&#10;\noindent To separate the state space into the types $\alpha, \beta$ and $\gamma$, go to the wedge space:&#10;\begin{align*}&#10;    W(G) := \{ w = (w(1),w(2),w(3)) = (v_1,v_2,v_3):  v_1,v_2,v_3 \in V, (v_1,v_2) \in E, (v_2,v_3) \in E\}.&#10;\end{align*}&#10;Then, every $w\in W(G)$ has type $\lambda(w)\in \{ \alpha,\beta, \gamma \}$. \\&#10;\ \\&#10;Transitions:&#10;\begin{align*}&#10;      \hP(w,w') &amp;= \PP(X_4 = w'(3)| X_3 = w'(2), X_2 = w'(1))\indic_{ \{ w \in IN(w')  \}} \\&#10;&amp;= \frac{\lambda(w')}{\sum_{w^*\in ON(w')}\lambda(w^*)}\indic_{ \{ w \in IN(w')  \}}.&#10;\end{align*}&#10;\begin{theorem*}(Avena, Bet, S., Stegehuis '26+)&#10;Let $\alpha&gt;0$ and let $G$ contain at least one triangle. Then, there exist unique probability measures $\pi$ and $\hpi$ such that&#10;\begin{align*}&#10;   \pi(v) = \sum\limits_{w\in IN(v)} \hpi(w).&#10;\end{align*}&#10;\end{theorem*}&#10;&#10;\end{document}" title="IguanaTex Bitmap Display">
            <a:extLst>
              <a:ext uri="{FF2B5EF4-FFF2-40B4-BE49-F238E27FC236}">
                <a16:creationId xmlns:a16="http://schemas.microsoft.com/office/drawing/2014/main" id="{CD67E3ED-10C2-00DF-C4AD-0B4F7A6341D6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937" y="1429571"/>
            <a:ext cx="9754230" cy="5325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74604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6EA88B-D804-6581-7C44-237DD4614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AF69A-50FA-93EF-7F93-2C8CD0A65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Regular </a:t>
            </a:r>
            <a:r>
              <a:rPr lang="de-DE" dirty="0" err="1">
                <a:solidFill>
                  <a:srgbClr val="26457C"/>
                </a:solidFill>
              </a:rPr>
              <a:t>graphs</a:t>
            </a:r>
            <a:endParaRPr lang="en-GB" dirty="0"/>
          </a:p>
        </p:txBody>
      </p:sp>
      <p:pic>
        <p:nvPicPr>
          <p:cNvPr id="6" name="Grafik 5" descr="\documentclass{article}&#10;\usepackage{amsmath}&#10;\usepackage{amssymb}&#10;\usepackage{dsfont}&#10;\pagestyle{empty}&#10;\newcommand{\hP}{\hat{P}}&#10;\newcommand{\PP}{\mathbb{P}}&#10;\newcommand{\hpi}{\hat{\pi}}&#10;\newcommand{\indic}{\mathds{1}}&#10;\newtheorem{innercustomthm}{Theorem}&#10;\newenvironment{customthm}[1]&#10;  {\renewcommand\theinnercustomthm{#1}\innercustomthm}&#10;  {\endinnercustomthm}&#10;&#10;\begin{document}&#10;\noindent Transitions:&#10;\begin{align*}&#10;   \hP(w,w') &amp;= \frac{\lambda(w')}{\sum_{w^*\in ON(w')}\lambda(w^*)}\indic_{ \{ w \in IN(w')  \}}.&#10;\end{align*}&#10;Invariant equation:&#10;\begin{align*}&#10;   \hpi(w')&amp;= \sum\limits_{w\in W(G)}\hpi(w)\hP(w,w') = \frac{\lambda(w')}{\sum_{w^*\in ON(w')}\lambda(w^*)}\sum\limits_{w \in IN(w')}\hpi(w)&#10;\end{align*}&#10;&#10;\end{document}" title="IguanaTex Bitmap Display">
            <a:extLst>
              <a:ext uri="{FF2B5EF4-FFF2-40B4-BE49-F238E27FC236}">
                <a16:creationId xmlns:a16="http://schemas.microsoft.com/office/drawing/2014/main" id="{63A585B5-CC2A-FE0E-1D24-F2C074C25B50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18" y="1597373"/>
            <a:ext cx="8019127" cy="260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1531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177C3-651A-7A11-50FF-0E9AF872D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071689-AA0F-1BA7-45C2-77E4807E61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Regular </a:t>
            </a:r>
            <a:r>
              <a:rPr lang="de-DE" dirty="0" err="1">
                <a:solidFill>
                  <a:srgbClr val="26457C"/>
                </a:solidFill>
              </a:rPr>
              <a:t>graphs</a:t>
            </a:r>
            <a:endParaRPr lang="en-GB" dirty="0"/>
          </a:p>
        </p:txBody>
      </p:sp>
      <p:pic>
        <p:nvPicPr>
          <p:cNvPr id="5" name="Grafik 4" descr="\documentclass{article}&#10;\usepackage{amsmath}&#10;\usepackage{amssymb}&#10;\usepackage{dsfont}&#10;\pagestyle{empty}&#10;\newcommand{\hP}{\hat{P}}&#10;\newcommand{\PP}{\mathbb{P}}&#10;\newcommand{\hpi}{\hat{\pi}}&#10;\newcommand{\indic}{\mathds{1}}&#10;\newtheorem{innercustomthm}{Theorem}&#10;\newenvironment{customthm}[1]&#10;  {\renewcommand\theinnercustomthm{#1}\innercustomthm}&#10;  {\endinnercustomthm}&#10;&#10;\begin{document}&#10;\noindent Transitions:&#10;\begin{align*}&#10;   \hP(w,w') &amp;= \frac{\lambda(w')}{\sum_{w^*\in ON(w')}\lambda(w^*)}\indic_{ \{ w \in IN(w')  \}}.&#10;\end{align*}&#10;Invariant equation:&#10;\begin{align*}&#10;   \hpi(w')&amp;= \sum\limits_{w\in W(G)}\hpi(w)\hP(w,w') = \frac{\lambda(w')}{\sum_{w^*\in ON(w')}\lambda(w^*)}\sum\limits_{w \in IN(w')}\hpi(w)\\&#10;\Longleftrightarrow~  \frac{\hpi(w')}{\lambda(w')} &amp;= \frac{\sum_{w \in IN(w')}\hpi(w)}{\sum_{w^*\in ON(w')}\lambda(w^*)}&#10;\end{align*}&#10;&#10;&#10;\end{document}" title="IguanaTex Bitmap Display">
            <a:extLst>
              <a:ext uri="{FF2B5EF4-FFF2-40B4-BE49-F238E27FC236}">
                <a16:creationId xmlns:a16="http://schemas.microsoft.com/office/drawing/2014/main" id="{29D2C58D-5CA1-D0B1-56B5-3E1BAC33412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18" y="1597373"/>
            <a:ext cx="8359490" cy="3438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5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B645B3-52A3-1B11-E7EB-735D633B3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8EECC-0837-A542-38A5-5DCFED4C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Regular </a:t>
            </a:r>
            <a:r>
              <a:rPr lang="de-DE" dirty="0" err="1">
                <a:solidFill>
                  <a:srgbClr val="26457C"/>
                </a:solidFill>
              </a:rPr>
              <a:t>graphs</a:t>
            </a:r>
            <a:endParaRPr lang="en-GB" dirty="0"/>
          </a:p>
        </p:txBody>
      </p:sp>
      <p:pic>
        <p:nvPicPr>
          <p:cNvPr id="4" name="Grafik 3" descr="\documentclass{article}&#10;\usepackage{amsmath}&#10;\usepackage{amssymb}&#10;\usepackage{dsfont}&#10;\pagestyle{empty}&#10;\newcommand{\hP}{\hat{P}}&#10;\newcommand{\PP}{\mathbb{P}}&#10;\newcommand{\hpi}{\hat{\pi}}&#10;\newcommand{\indic}{\mathds{1}}&#10;\newtheorem{innercustomthm}{Theorem}&#10;\newenvironment{customthm}[1]&#10;  {\renewcommand\theinnercustomthm{#1}\innercustomthm}&#10;  {\endinnercustomthm}&#10;&#10;\begin{document}&#10;\noindent Transitions:&#10;\begin{align*}&#10;   \hP(w,w') &amp;= \frac{\lambda(w')}{\sum_{w^*\in ON(w')}\lambda(w^*)}\indic_{ \{ w \in IN(w')  \}}.&#10;\end{align*}&#10;Invariant equation:&#10;\begin{align*}&#10;   \hpi(w')&amp;= \sum\limits_{w\in W(G)}\hpi(w)\hP(w,w') = \frac{\lambda(w')}{\sum_{w^*\in ON(w')}\lambda(w^*)}\sum\limits_{w \in IN(w')}\hpi(w)\\&#10;\Longleftrightarrow~  \frac{\hpi(w')}{\lambda(w')} &amp;= \frac{\sum_{w \in IN(w')}\hpi(w)}{\sum_{w^*\in ON(w')}\lambda(w^*)}&#10;\end{align*}&#10;Setting $\hpi(w) = \frac{\lambda(w)}{Z}$ yields&#10;\begin{align*}&#10;   \sum_{w^*\in ON(w')}\lambda(w^*) = \sum_{w^*\in IN(w')}\lambda(w^*)&#10;\end{align*}&#10;&#10;\end{document}" title="IguanaTex Bitmap Display">
            <a:extLst>
              <a:ext uri="{FF2B5EF4-FFF2-40B4-BE49-F238E27FC236}">
                <a16:creationId xmlns:a16="http://schemas.microsoft.com/office/drawing/2014/main" id="{7CA55F89-DC57-50C9-2FBE-F7036D4D6961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18" y="1597373"/>
            <a:ext cx="8359008" cy="496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4771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39B4-34E3-4171-92FA-0FA92ACA6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6BF67-EFC9-3FFA-7156-262262C28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rgbClr val="26457C"/>
                </a:solidFill>
              </a:rPr>
              <a:t>Regular </a:t>
            </a:r>
            <a:r>
              <a:rPr lang="de-DE" dirty="0" err="1">
                <a:solidFill>
                  <a:srgbClr val="26457C"/>
                </a:solidFill>
              </a:rPr>
              <a:t>graphs</a:t>
            </a:r>
            <a:endParaRPr lang="en-GB" dirty="0"/>
          </a:p>
        </p:txBody>
      </p:sp>
      <p:pic>
        <p:nvPicPr>
          <p:cNvPr id="4" name="Grafik 3" descr="\documentclass{article}&#10;\usepackage{amsmath}&#10;\usepackage{amssymb}&#10;\usepackage{dsfont}&#10;\pagestyle{empty}&#10;\newcommand{\hP}{\hat{P}}&#10;\newcommand{\PP}{\mathbb{P}}&#10;\newcommand{\hpi}{\hat{\pi}}&#10;\newcommand{\indic}{\mathds{1}}&#10;\newtheorem{innercustomthm}{Theorem}&#10;\newenvironment{customthm}[1]&#10;  {\renewcommand\theinnercustomthm{#1}\innercustomthm}&#10;  {\endinnercustomthm}&#10;&#10;\begin{document}&#10;\noindent Invariant equation:&#10;\begin{align*}&#10;   \hpi(w')&amp;= \sum\limits_{w\in W(G)}\hpi(w)\hP(w,w') = \frac{\lambda(w')}{\sum_{w^*\in ON(w')}\lambda(w^*)}\sum\limits_{w \in IN(w')}\hpi(w)\\&#10;\Longleftrightarrow~  \frac{\hpi(w')}{\lambda(w')} &amp;= \frac{\sum_{w \in IN(w')}\hpi(w)}{\sum_{w^*\in ON(w')}\lambda(w^*)}&#10;\end{align*}&#10;Setting $\hpi(w) = \frac{\lambda(w)}{Z}$ yields&#10;\begin{align*}&#10;   \sum_{w^*\in ON(w')}\lambda(w^*) = \sum_{w^*\in IN(w')}\lambda(w^*)&#10;\end{align*}&#10;&#10;\begin{customthm}{2}(Avena, Bet, S., Stegehuis '26+)\\&#10;If $G$ regular,&#10; $$\hpi(w) = \frac{\lambda(w)}{Z}.$$&#10;&#10;\end{customthm}&#10;&#10;\end{document}" title="IguanaTex Bitmap Display">
            <a:extLst>
              <a:ext uri="{FF2B5EF4-FFF2-40B4-BE49-F238E27FC236}">
                <a16:creationId xmlns:a16="http://schemas.microsoft.com/office/drawing/2014/main" id="{AA8B12ED-006A-0BA5-C9AC-65F6F6F15A7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19" y="1597374"/>
            <a:ext cx="8360453" cy="4990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2594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D87562-4E21-D2A2-FFC2-6026B89E9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9AFC5-D211-5C71-14BB-FFA763391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rgbClr val="26457C"/>
                </a:solidFill>
              </a:rPr>
              <a:t>Recurrence</a:t>
            </a:r>
            <a:r>
              <a:rPr lang="de-DE" dirty="0">
                <a:solidFill>
                  <a:srgbClr val="26457C"/>
                </a:solidFill>
              </a:rPr>
              <a:t> of node2vec </a:t>
            </a:r>
            <a:r>
              <a:rPr lang="de-DE" dirty="0" err="1">
                <a:solidFill>
                  <a:srgbClr val="26457C"/>
                </a:solidFill>
              </a:rPr>
              <a:t>random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walks</a:t>
            </a:r>
            <a:endParaRPr lang="en-GB" dirty="0"/>
          </a:p>
        </p:txBody>
      </p:sp>
      <p:pic>
        <p:nvPicPr>
          <p:cNvPr id="4" name="Grafik 3" descr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*{theorem*}{Theorem}&#10;&#10;\begin{document}&#10;\begin{theorem*}(Avena, Bet, S., Stegehuis '26+)&#10;        Let $G = (V, E)$ be a connected regular graph with bounded degrees. Then, $$ \text{node2vec recurrent on } G \Longleftrightarrow \text{ SRW recurrent on }G.$$&#10;\end{theorem*}&#10;&#10;&#10;\end{document}" title="IguanaTex Bitmap Display">
            <a:extLst>
              <a:ext uri="{FF2B5EF4-FFF2-40B4-BE49-F238E27FC236}">
                <a16:creationId xmlns:a16="http://schemas.microsoft.com/office/drawing/2014/main" id="{B8C588A6-3730-723F-3218-5962C12A967A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25" y="1597369"/>
            <a:ext cx="8750209" cy="106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3068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274BD-01C6-9D6C-EAAA-EBAE59F77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845FE-EA80-5523-25BD-9592DD3861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rgbClr val="26457C"/>
                </a:solidFill>
              </a:rPr>
              <a:t>Recurrence</a:t>
            </a:r>
            <a:r>
              <a:rPr lang="de-DE" dirty="0">
                <a:solidFill>
                  <a:srgbClr val="26457C"/>
                </a:solidFill>
              </a:rPr>
              <a:t> of node2vec </a:t>
            </a:r>
            <a:r>
              <a:rPr lang="de-DE" dirty="0" err="1">
                <a:solidFill>
                  <a:srgbClr val="26457C"/>
                </a:solidFill>
              </a:rPr>
              <a:t>random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walks</a:t>
            </a:r>
            <a:endParaRPr lang="en-GB" dirty="0"/>
          </a:p>
        </p:txBody>
      </p:sp>
      <p:pic>
        <p:nvPicPr>
          <p:cNvPr id="5" name="Grafik 4" descr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*{theorem*}{Theorem}&#10;&#10;\begin{document}&#10;\begin{theorem*}(Avena, Bet, S., Stegehuis '26+)&#10;        Let $G = (V, E)$ be a connected regular graph with bounded degrees. Then, $$ \text{node2vec recurrent on } G \Longleftrightarrow \text{ SRW recurrent on }G.$$&#10;\end{theorem*}&#10;&#10;\noindent \textbf{Proof idea:} On regular graphs, node2vec random walks are \textbf{anti-reversible}:&#10;\begin{align*}&#10;   \hpi(w)\hP(w,w') = \hpi(w')\hP(-w',-w).&#10;\end{align*}&#10;With this, we can construct a reversible Markov chain $Q$. Then show:&#10;\begin{itemize}&#10;   \item[1)] $Q$ recurrent $\Longleftrightarrow$ node2vec recurrent&#10;   \item[2)] $Q$ recurrent $\Longleftrightarrow$ SRW recurrent&#10;\end{itemize}&#10;\end{document}" title="IguanaTex Bitmap Display">
            <a:extLst>
              <a:ext uri="{FF2B5EF4-FFF2-40B4-BE49-F238E27FC236}">
                <a16:creationId xmlns:a16="http://schemas.microsoft.com/office/drawing/2014/main" id="{75ECD0EC-CDA1-3720-02DA-0F0231993C1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24" y="1597370"/>
            <a:ext cx="8755886" cy="3829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139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0B1C50-D4C9-67F7-AE7E-3C98113390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096793-5AA6-79BD-7A96-1C4F27A66F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>
                <a:solidFill>
                  <a:srgbClr val="26457C"/>
                </a:solidFill>
              </a:rPr>
              <a:t>Recurrence</a:t>
            </a:r>
            <a:r>
              <a:rPr lang="de-DE" dirty="0">
                <a:solidFill>
                  <a:srgbClr val="26457C"/>
                </a:solidFill>
              </a:rPr>
              <a:t> of node2vec </a:t>
            </a:r>
            <a:r>
              <a:rPr lang="de-DE" dirty="0" err="1">
                <a:solidFill>
                  <a:srgbClr val="26457C"/>
                </a:solidFill>
              </a:rPr>
              <a:t>random</a:t>
            </a:r>
            <a:r>
              <a:rPr lang="de-DE" dirty="0">
                <a:solidFill>
                  <a:srgbClr val="26457C"/>
                </a:solidFill>
              </a:rPr>
              <a:t> </a:t>
            </a:r>
            <a:r>
              <a:rPr lang="de-DE" dirty="0" err="1">
                <a:solidFill>
                  <a:srgbClr val="26457C"/>
                </a:solidFill>
              </a:rPr>
              <a:t>walks</a:t>
            </a:r>
            <a:endParaRPr lang="en-GB" dirty="0"/>
          </a:p>
        </p:txBody>
      </p:sp>
      <p:pic>
        <p:nvPicPr>
          <p:cNvPr id="5" name="Grafik 4" descr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*{theorem*}{Theorem}&#10;&#10;\begin{document}&#10;\begin{theorem*}(Avena, Bet, S., Stegehuis '26+)&#10;        Let $G = (V, E)$ be a connected regular graph with bounded degrees. Then, $$ \text{node2vec recurrent on } G \Longleftrightarrow \text{ SRW recurrent on }G.$$&#10;\end{theorem*}&#10;&#10;\noindent \textbf{Proof idea:} On regular graphs, node2vec random walks are \textbf{anti-reversible}:&#10;\begin{align*}&#10;   \hpi(w)\hP(w,w') = \hpi(w')\hP(-w',-w).&#10;\end{align*}&#10;With this, we can construct a reversible Markov chain $Q$. Then show:&#10;\begin{itemize}&#10;   \item[1)] $Q$ recurrent $\Longleftrightarrow$ node2vec recurrent&#10;   \item[2)] $Q$ recurrent $\Longleftrightarrow$ SRW recurrent&#10;\end{itemize}&#10;\end{document}" title="IguanaTex Bitmap Display">
            <a:extLst>
              <a:ext uri="{FF2B5EF4-FFF2-40B4-BE49-F238E27FC236}">
                <a16:creationId xmlns:a16="http://schemas.microsoft.com/office/drawing/2014/main" id="{EAB5E22D-FD46-8A28-9587-575FFD75F24F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1324" y="1597370"/>
            <a:ext cx="8755886" cy="3829661"/>
          </a:xfrm>
          <a:prstGeom prst="rect">
            <a:avLst/>
          </a:prstGeom>
        </p:spPr>
      </p:pic>
      <p:pic>
        <p:nvPicPr>
          <p:cNvPr id="29" name="Grafik 28" descr="\documentclass{article}&#10;\usepackage{amsmath}&#10;\usepackage{qrcode}&#10;\pagestyle{empty}&#10;\begin{document}&#10;&#10;&#10;\qrcode{https://arxiv.org/abs/2604.13681}&#10;&#10;&#10;\end{document}" title="IguanaTex Bitmap Display">
            <a:extLst>
              <a:ext uri="{FF2B5EF4-FFF2-40B4-BE49-F238E27FC236}">
                <a16:creationId xmlns:a16="http://schemas.microsoft.com/office/drawing/2014/main" id="{1CC4F7EE-DBA3-1D8C-E289-8AE351130E1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210" y="4880820"/>
            <a:ext cx="1452585" cy="1456633"/>
          </a:xfrm>
          <a:prstGeom prst="rect">
            <a:avLst/>
          </a:prstGeom>
        </p:spPr>
      </p:pic>
      <p:pic>
        <p:nvPicPr>
          <p:cNvPr id="35" name="Grafik 34" descr="\documentclass{article}&#10;\usepackage{amsmath}&#10;\pagestyle{empty}&#10;\begin{document}&#10;&#10;\textbf{arXiv link:}&#10;&#10;&#10;\end{document}" title="IguanaTex Bitmap Display">
            <a:extLst>
              <a:ext uri="{FF2B5EF4-FFF2-40B4-BE49-F238E27FC236}">
                <a16:creationId xmlns:a16="http://schemas.microsoft.com/office/drawing/2014/main" id="{53E7D4E2-B444-6684-A0E2-A25099B9646B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7210" y="4479898"/>
            <a:ext cx="1343380" cy="177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2640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3961"/>
  <p:tag name="ORIGINALWIDTH" val="33.7457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$&#10;&#10;\end{document}&#10;"/>
  <p:tag name="IGUANATEXSIZE" val="20"/>
  <p:tag name="IGUANATEXCURSOR" val="3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244.469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-1$&#10;&#10;\end{document}&#10;"/>
  <p:tag name="IGUANATEXSIZE" val="20"/>
  <p:tag name="IGUANATEXCURSOR" val="31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3961"/>
  <p:tag name="ORIGINALWIDTH" val="33.7457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$&#10;&#10;\end{document}&#10;"/>
  <p:tag name="IGUANATEXSIZE" val="20"/>
  <p:tag name="IGUANATEXCURSOR" val="3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244.469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-1$&#10;&#10;\end{document}&#10;"/>
  <p:tag name="IGUANATEXSIZE" val="20"/>
  <p:tag name="IGUANATEXCURSOR" val="31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3961"/>
  <p:tag name="ORIGINALWIDTH" val="33.7457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$&#10;&#10;\end{document}&#10;"/>
  <p:tag name="IGUANATEXSIZE" val="20"/>
  <p:tag name="IGUANATEXCURSOR" val="3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244.469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-1$&#10;&#10;\end{document}&#10;"/>
  <p:tag name="IGUANATEXSIZE" val="20"/>
  <p:tag name="IGUANATEXCURSOR" val="31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3961"/>
  <p:tag name="ORIGINALWIDTH" val="33.7457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$&#10;&#10;\end{document}&#10;"/>
  <p:tag name="IGUANATEXSIZE" val="20"/>
  <p:tag name="IGUANATEXCURSOR" val="3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244.469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-1$&#10;&#10;\end{document}&#10;"/>
  <p:tag name="IGUANATEXSIZE" val="20"/>
  <p:tag name="IGUANATEXCURSOR" val="31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23961"/>
  <p:tag name="ORIGINALWIDTH" val="33.7457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$&#10;&#10;\end{document}&#10;"/>
  <p:tag name="IGUANATEXSIZE" val="20"/>
  <p:tag name="IGUANATEXCURSOR" val="310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3.98952"/>
  <p:tag name="ORIGINALWIDTH" val="244.469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$i-1$&#10;&#10;\end{document}&#10;"/>
  <p:tag name="IGUANATEXSIZE" val="20"/>
  <p:tag name="IGUANATEXCURSOR" val="31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03,3"/>
  <p:tag name="ORIGINALWIDTH" val="3796,775"/>
  <p:tag name="LATEXADDIN" val="\documentclass{article}&#10;\usepackage[english]{babel}&#10;\usepackage{amsmath}&#10;\usepackage{amsthm}&#10;\usepackage{amsfonts}&#10;\providecommand{\E}{\mathbb E}&#10;\newcommand{\NN}{\mathbb{N}}&#10;\newcommand{\PP}{\mathbb{P}}&#10;\newtheorem*{theorem*}{Theorem}&#10;\newtheorem*{definition*}{Definition}&#10;\pagestyle{empty}&#10;\begin{document}&#10;&#10;\begin{definition*}[node2vec random walk] \ \\&#10;\begin{itemize}&#10;\item $G = (V,E)$ undirected graph &#10;\end{itemize}&#10;For $(v,w) \in E$, a random walk $(X_i)_{i\in \NN_0}$ is \textbf{node2vec} if&#10;    \begin{align*}&#10;        \PP(X_{i+1}=w|X_{i}=v,X_{i-1}=u) \propto \begin{cases}&#10;  \alpha ~\text{ if } u=w\\&#10;        \beta ~\text{ if } (u,w)\in E\\&#10;        \gamma ~\text{ if } (u,w)\notin E ~\text{ and } u\neq w\\&#10;   0 ~\text{ otherwise}.&#10; \end{cases}&#10;    \end{align*}&#10;\end{definition*}&#10;&#10;\end{document}&#10;"/>
  <p:tag name="IGUANATEXSIZE" val="20"/>
  <p:tag name="IGUANATEXCURSOR" val="390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12.6734"/>
  <p:tag name="ORIGINALWIDTH" val="2757.405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newtheorem*{theorem*}{Theorem}&#10;\pagestyle{empty}&#10;\begin{document}&#10;&#10;Special cases include:&#10;\begin{itemize}&#10;\item Simple random walk for $\alpha = \beta = \gamma$&#10;\item Non-backtracking random walk for $\alpha =0,\beta = \gamma$.&#10;\end{itemize}&#10;&#10;\end{document}&#10;"/>
  <p:tag name="IGUANATEXSIZE" val="20"/>
  <p:tag name="IGUANATEXCURSOR" val="432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5.4856"/>
  <p:tag name="ORIGINALWIDTH" val="680.9149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\begin{itemize}&#10;\item $\alpha,\beta,\gamma \ge 0$&#10;\end{itemize}&#10;&#10;\end{document}&#10;"/>
  <p:tag name="IGUANATEXSIZE" val="20"/>
  <p:tag name="IGUANATEXCURSOR" val="324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4.7357"/>
  <p:tag name="ORIGINALWIDTH" val="4263.217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\noindent&#10;Source: node2vec: Scalable Feature Learning for Networks, Grover \&amp; Leskovic&#10;&#10;\end{document}&#10;"/>
  <p:tag name="IGUANATEXSIZE" val="14"/>
  <p:tag name="IGUANATEXCURSOR" val="393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2269.216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\noindent Fig. 1: Colors correspond to communities&#10;&#10;\end{document}&#10;"/>
  <p:tag name="IGUANATEXSIZE" val="14"/>
  <p:tag name="IGUANATEXCURSOR" val="326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13.2358"/>
  <p:tag name="ORIGINALWIDTH" val="2778.403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&#10;\noindent Fig. 2: Colors correspond to structural equivalence&#10;&#10;\end{document}&#10;"/>
  <p:tag name="IGUANATEXSIZE" val="14"/>
  <p:tag name="IGUANATEXCURSOR" val="369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,9674"/>
  <p:tag name="ORIGINALWIDTH" val="2120,735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\noindent &#10;\textbf{Problem:} The node2vec random walk\\ on a graph is not a Markov chain.&#10;&#10;\end{document}&#10;"/>
  <p:tag name="IGUANATEXSIZE" val="20"/>
  <p:tag name="IGUANATEXCURSOR" val="382"/>
  <p:tag name="TRANSPARENCY" val="Wahr"/>
  <p:tag name="LATEXENGINEID" val="0"/>
  <p:tag name="TEMPFOLDER" val="c:\temp\"/>
  <p:tag name="LATEXFORMHEIGHT" val="320"/>
  <p:tag name="LATEXFORMWIDTH" val="385"/>
  <p:tag name="LATEXFORMWRAP" val="Wahr"/>
  <p:tag name="BITMAPVECTOR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2.4672"/>
  <p:tag name="ORIGINALWIDTH" val="1865.767"/>
  <p:tag name="OUTPUTTYPE" val="PNG"/>
  <p:tag name="IGUANATEXVERSION" val="161"/>
  <p:tag name="LATEXADDIN" val="\documentclass{article}&#10;\usepackage[english]{babel}&#10;\usepackage{amsmath}&#10;\usepackage{amsthm}&#10;\usepackage{amsfonts}&#10;\providecommand{\E}{\mathbb E}&#10;\newcommand{\NN}{\mathbb{N}}&#10;\newcommand{\PP}{\mathbb{P}}&#10;\providecommand{\xto}{\xrightarrow}&#10;\newtheorem*{theorem*}{Theorem}&#10;\pagestyle{empty}&#10;\begin{document}&#10;\noindent&#10;\textbf{Solution:} Change the state space\\ to the directed edges.&#10;&#10;\end{document}&#10;"/>
  <p:tag name="IGUANATEXSIZE" val="20"/>
  <p:tag name="IGUANATEXCURSOR" val="335"/>
  <p:tag name="TRANSPARENCY" val="True"/>
  <p:tag name="LATEXENGINEID" val="0"/>
  <p:tag name="TEMPFOLDER" val="C:\temp\"/>
  <p:tag name="LATEXFORMHEIGHT" val="320"/>
  <p:tag name="LATEXFORMWIDTH" val="385"/>
  <p:tag name="LATEXFORMWRAP" val="True"/>
  <p:tag name="BITMAPVECTOR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667,4166"/>
  <p:tag name="ORIGINALWIDTH" val="4794,15"/>
  <p:tag name="LATEXADDIN" val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{theorem}{Theorem}[section]&#10;\newtheorem*{theorem*}{Theorem}&#10;&#10;\begin{document}&#10;\noindent To separate the state space into the types $\alpha, \beta$ and $\gamma$, go to the wedge space:&#10;\begin{align*}&#10;    W(G) := \{ w = (w(1),w(2),w(3)) = (v_1,v_2,v_3):  v_1,v_2,v_3 \in V, (v_1,v_2) \in E, (v_2,v_3) \in E\}.&#10;\end{align*}&#10;Then, every $w\in W(G)$ has type $\lambda(w)\in \{ \alpha,\beta, \gamma \}$. \\&#10;\ \\&#10;&#10;\end{document}"/>
  <p:tag name="IGUANATEXSIZE" val="20"/>
  <p:tag name="IGUANATEXCURSOR" val="657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25,797"/>
  <p:tag name="ORIGINALWIDTH" val="4794,15"/>
  <p:tag name="LATEXADDIN" val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{theorem}{Theorem}[section]&#10;\newtheorem*{theorem*}{Theorem}&#10;&#10;\begin{document}&#10;\noindent To separate the state space into the types $\alpha, \beta$ and $\gamma$, go to the wedge space:&#10;\begin{align*}&#10;    W(G) := \{ w = (w(1),w(2),w(3)) = (v_1,v_2,v_3):  v_1,v_2,v_3 \in V, (v_1,v_2) \in E, (v_2,v_3) \in E\}.&#10;\end{align*}&#10;Then, every $w\in W(G)$ has type $\lambda(w)\in \{ \alpha,\beta, \gamma \}$. \\&#10;\ \\&#10;Transitions:&#10;\begin{align*}&#10;      \hP(w,w') &amp;= \PP(X_4 = w'(3)| X_3 = w'(2), X_2 = w'(1))\indic_{ \{ w \in IN(w')  \}} \\&#10;&amp;= \frac{\lambda(w')}{\sum_{w^*\in ON(w')}\lambda(w^*)}\indic_{ \{ w \in IN(w')  \}}.&#10;\end{align*}&#10;&#10;&#10;\end{document}"/>
  <p:tag name="IGUANATEXSIZE" val="20"/>
  <p:tag name="IGUANATEXCURSOR" val="878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605,174"/>
  <p:tag name="ORIGINALWIDTH" val="4794,15"/>
  <p:tag name="LATEXADDIN" val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{theorem}{Theorem}[section]&#10;\newtheorem*{theorem*}{Theorem}&#10;&#10;\begin{document}&#10;\noindent To separate the state space into the types $\alpha, \beta$ and $\gamma$, go to the wedge space:&#10;\begin{align*}&#10;    W(G) := \{ w = (w(1),w(2),w(3)) = (v_1,v_2,v_3):  v_1,v_2,v_3 \in V, (v_1,v_2) \in E, (v_2,v_3) \in E\}.&#10;\end{align*}&#10;Then, every $w\in W(G)$ has type $\lambda(w)\in \{ \alpha,\beta, \gamma \}$. \\&#10;\ \\&#10;Transitions:&#10;\begin{align*}&#10;      \hP(w,w') &amp;= \PP(X_4 = w'(3)| X_3 = w'(2), X_2 = w'(1))\indic_{ \{ w \in IN(w')  \}} \\&#10;&amp;= \frac{\lambda(w')}{\sum_{w^*\in ON(w')}\lambda(w^*)}\indic_{ \{ w \in IN(w')  \}}.&#10;\end{align*}&#10;\begin{theorem*}(Avena, Bet, S., Stegehuis '26+)&#10;Let $\alpha&gt;0$ and let $G$ contain at least one triangle. Then, there exist unique probability measures $\pi$ and $\hpi$ such that&#10;\begin{align*}&#10;   \pi(v) = \sum\limits_{w\in IN(v)} \hpi(w).&#10;\end{align*}&#10;\end{theorem*}&#10;&#10;\end{document}"/>
  <p:tag name="IGUANATEXSIZE" val="20"/>
  <p:tag name="IGUANATEXCURSOR" val="924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280,09"/>
  <p:tag name="ORIGINALWIDTH" val="3940,008"/>
  <p:tag name="LATEXADDIN" val="\documentclass{article}&#10;\usepackage{amsmath}&#10;\usepackage{amssymb}&#10;\usepackage{dsfont}&#10;\pagestyle{empty}&#10;\newcommand{\hP}{\hat{P}}&#10;\newcommand{\PP}{\mathbb{P}}&#10;\newcommand{\hpi}{\hat{\pi}}&#10;\newcommand{\indic}{\mathds{1}}&#10;\newtheorem{innercustomthm}{Theorem}&#10;\newenvironment{customthm}[1]&#10;  {\renewcommand\theinnercustomthm{#1}\innercustomthm}&#10;  {\endinnercustomthm}&#10;&#10;\begin{document}&#10;\noindent Transitions:&#10;\begin{align*}&#10;   \hP(w,w') &amp;= \frac{\lambda(w')}{\sum_{w^*\in ON(w')}\lambda(w^*)}\indic_{ \{ w \in IN(w')  \}}.&#10;\end{align*}&#10;Invariant equation:&#10;\begin{align*}&#10;   \hpi(w')&amp;= \sum\limits_{w\in W(G)}\hpi(w)\hP(w,w') = \frac{\lambda(w')}{\sum_{w^*\in ON(w')}\lambda(w^*)}\sum\limits_{w \in IN(w')}\hpi(w)&#10;\end{align*}&#10;&#10;\end{document}"/>
  <p:tag name="IGUANATEXSIZE" val="20"/>
  <p:tag name="IGUANATEXCURSOR" val="709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688,039"/>
  <p:tag name="ORIGINALWIDTH" val="4107,236"/>
  <p:tag name="LATEXADDIN" val="\documentclass{article}&#10;\usepackage{amsmath}&#10;\usepackage{amssymb}&#10;\usepackage{dsfont}&#10;\pagestyle{empty}&#10;\newcommand{\hP}{\hat{P}}&#10;\newcommand{\PP}{\mathbb{P}}&#10;\newcommand{\hpi}{\hat{\pi}}&#10;\newcommand{\indic}{\mathds{1}}&#10;\newtheorem{innercustomthm}{Theorem}&#10;\newenvironment{customthm}[1]&#10;  {\renewcommand\theinnercustomthm{#1}\innercustomthm}&#10;  {\endinnercustomthm}&#10;&#10;\begin{document}&#10;\noindent Transitions:&#10;\begin{align*}&#10;   \hP(w,w') &amp;= \frac{\lambda(w')}{\sum_{w^*\in ON(w')}\lambda(w^*)}\indic_{ \{ w \in IN(w')  \}}.&#10;\end{align*}&#10;Invariant equation:&#10;\begin{align*}&#10;   \hpi(w')&amp;= \sum\limits_{w\in W(G)}\hpi(w)\hP(w,w') = \frac{\lambda(w')}{\sum_{w^*\in ON(w')}\lambda(w^*)}\sum\limits_{w \in IN(w')}\hpi(w)\\&#10;\Longleftrightarrow~  \frac{\hpi(w')}{\lambda(w')} &amp;= \frac{\sum_{w \in IN(w')}\hpi(w)}{\sum_{w^*\in ON(w')}\lambda(w^*)}&#10;\end{align*}&#10;&#10;&#10;\end{document}"/>
  <p:tag name="IGUANATEXSIZE" val="20"/>
  <p:tag name="IGUANATEXCURSOR" val="847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37,945"/>
  <p:tag name="ORIGINALWIDTH" val="4107,236"/>
  <p:tag name="LATEXADDIN" val="\documentclass{article}&#10;\usepackage{amsmath}&#10;\usepackage{amssymb}&#10;\usepackage{dsfont}&#10;\pagestyle{empty}&#10;\newcommand{\hP}{\hat{P}}&#10;\newcommand{\PP}{\mathbb{P}}&#10;\newcommand{\hpi}{\hat{\pi}}&#10;\newcommand{\indic}{\mathds{1}}&#10;\newtheorem{innercustomthm}{Theorem}&#10;\newenvironment{customthm}[1]&#10;  {\renewcommand\theinnercustomthm{#1}\innercustomthm}&#10;  {\endinnercustomthm}&#10;&#10;\begin{document}&#10;\noindent Transitions:&#10;\begin{align*}&#10;   \hP(w,w') &amp;= \frac{\lambda(w')}{\sum_{w^*\in ON(w')}\lambda(w^*)}\indic_{ \{ w \in IN(w')  \}}.&#10;\end{align*}&#10;Invariant equation:&#10;\begin{align*}&#10;   \hpi(w')&amp;= \sum\limits_{w\in W(G)}\hpi(w)\hP(w,w') = \frac{\lambda(w')}{\sum_{w^*\in ON(w')}\lambda(w^*)}\sum\limits_{w \in IN(w')}\hpi(w)\\&#10;\Longleftrightarrow~  \frac{\hpi(w')}{\lambda(w')} &amp;= \frac{\sum_{w \in IN(w')}\hpi(w)}{\sum_{w^*\in ON(w')}\lambda(w^*)}&#10;\end{align*}&#10;Setting $\hpi(w) = \frac{\lambda(w)}{Z}$ yields&#10;\begin{align*}&#10;   \sum_{w^*\in ON(w')}\lambda(w^*) = \sum_{w^*\in IN(w')}\lambda(w^*)&#10;\end{align*}&#10;&#10;\end{document}"/>
  <p:tag name="IGUANATEXSIZE" val="20"/>
  <p:tag name="IGUANATEXCURSOR" val="975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2449,194"/>
  <p:tag name="ORIGINALWIDTH" val="4107,236"/>
  <p:tag name="LATEXADDIN" val="\documentclass{article}&#10;\usepackage{amsmath}&#10;\usepackage{amssymb}&#10;\usepackage{dsfont}&#10;\pagestyle{empty}&#10;\newcommand{\hP}{\hat{P}}&#10;\newcommand{\PP}{\mathbb{P}}&#10;\newcommand{\hpi}{\hat{\pi}}&#10;\newcommand{\indic}{\mathds{1}}&#10;\newtheorem{innercustomthm}{Theorem}&#10;\newenvironment{customthm}[1]&#10;  {\renewcommand\theinnercustomthm{#1}\innercustomthm}&#10;  {\endinnercustomthm}&#10;&#10;\begin{document}&#10;\noindent Invariant equation:&#10;\begin{align*}&#10;   \hpi(w')&amp;= \sum\limits_{w\in W(G)}\hpi(w)\hP(w,w') = \frac{\lambda(w')}{\sum_{w^*\in ON(w')}\lambda(w^*)}\sum\limits_{w \in IN(w')}\hpi(w)\\&#10;\Longleftrightarrow~  \frac{\hpi(w')}{\lambda(w')} &amp;= \frac{\sum_{w \in IN(w')}\hpi(w)}{\sum_{w^*\in ON(w')}\lambda(w^*)}&#10;\end{align*}&#10;Setting $\hpi(w) = \frac{\lambda(w)}{Z}$ yields&#10;\begin{align*}&#10;   \sum_{w^*\in ON(w')}\lambda(w^*) = \sum_{w^*\in IN(w')}\lambda(w^*)&#10;\end{align*}&#10;&#10;\begin{customthm}{2}(Avena, Bet, S., Stegehuis '26+)\\&#10;If $G$ regular,&#10; $$\hpi(w) = \frac{\lambda(w)}{Z}.$$&#10;&#10;\end{customthm}&#10;&#10;\end{document}"/>
  <p:tag name="IGUANATEXSIZE" val="20"/>
  <p:tag name="IGUANATEXCURSOR" val="905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520,4349"/>
  <p:tag name="ORIGINALWIDTH" val="4296,213"/>
  <p:tag name="LATEXADDIN" val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*{theorem*}{Theorem}&#10;&#10;\begin{document}&#10;\begin{theorem*}(Avena, Bet, S., Stegehuis '26+)&#10;        Let $G = (V, E)$ be a connected regular graph with bounded degrees. Then, $$ \text{node2vec recurrent on } G \Longleftrightarrow \text{ SRW recurrent on }G.$$&#10;\end{theorem*}&#10;&#10;&#10;\end{document}"/>
  <p:tag name="IGUANATEXSIZE" val="20"/>
  <p:tag name="IGUANATEXCURSOR" val="522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8,016"/>
  <p:tag name="ORIGINALWIDTH" val="4299,212"/>
  <p:tag name="LATEXADDIN" val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*{theorem*}{Theorem}&#10;&#10;\begin{document}&#10;\begin{theorem*}(Avena, Bet, S., Stegehuis '26+)&#10;        Let $G = (V, E)$ be a connected regular graph with bounded degrees. Then, $$ \text{node2vec recurrent on } G \Longleftrightarrow \text{ SRW recurrent on }G.$$&#10;\end{theorem*}&#10;&#10;\noindent \textbf{Proof idea:} On regular graphs, node2vec random walks are \textbf{anti-reversible}:&#10;\begin{align*}&#10;   \hpi(w)\hP(w,w') = \hpi(w')\hP(-w',-w).&#10;\end{align*}&#10;With this, we can construct a reversible Markov chain $Q$. Then show:&#10;\begin{itemize}&#10;   \item[1)] $Q$ recurrent $\Longleftrightarrow$ node2vec recurrent&#10;   \item[2)] $Q$ recurrent $\Longleftrightarrow$ SRW recurrent&#10;\end{itemize}&#10;\end{document}"/>
  <p:tag name="IGUANATEXSIZE" val="20"/>
  <p:tag name="IGUANATEXCURSOR" val="838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1868,016"/>
  <p:tag name="ORIGINALWIDTH" val="4299,212"/>
  <p:tag name="LATEXADDIN" val="\documentclass{article}&#10;\usepackage{amsmath}&#10;\usepackage{amssymb}&#10;\usepackage{amsthm}&#10;\usepackage{dsfont}&#10;\pagestyle{empty}&#10;\newcommand{\hP}{\hat{P}}&#10;\newcommand{\PP}{\mathbb{P}}&#10;\newcommand{\hpi}{\hat{\pi}}&#10;\newcommand{\indic}{\mathds{1}}&#10;\newtheorem*{theorem*}{Theorem}&#10;&#10;\begin{document}&#10;\begin{theorem*}(Avena, Bet, S., Stegehuis '26+)&#10;        Let $G = (V, E)$ be a connected regular graph with bounded degrees. Then, $$ \text{node2vec recurrent on } G \Longleftrightarrow \text{ SRW recurrent on }G.$$&#10;\end{theorem*}&#10;&#10;\noindent \textbf{Proof idea:} On regular graphs, node2vec random walks are \textbf{anti-reversible}:&#10;\begin{align*}&#10;   \hpi(w)\hP(w,w') = \hpi(w')\hP(-w',-w).&#10;\end{align*}&#10;With this, we can construct a reversible Markov chain $Q$. Then show:&#10;\begin{itemize}&#10;   \item[1)] $Q$ recurrent $\Longleftrightarrow$ node2vec recurrent&#10;   \item[2)] $Q$ recurrent $\Longleftrightarrow$ SRW recurrent&#10;\end{itemize}&#10;\end{document}"/>
  <p:tag name="IGUANATEXSIZE" val="20"/>
  <p:tag name="IGUANATEXCURSOR" val="838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708,6614"/>
  <p:tag name="ORIGINALWIDTH" val="708,6614"/>
  <p:tag name="LATEXADDIN" val="\documentclass{article}&#10;\usepackage{amsmath}&#10;\usepackage{qrcode}&#10;\pagestyle{empty}&#10;\begin{document}&#10;&#10;&#10;\qrcode{https://arxiv.org/abs/2604.13681}&#10;&#10;&#10;\end{document}"/>
  <p:tag name="IGUANATEXSIZE" val="20"/>
  <p:tag name="IGUANATEXCURSOR" val="101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1200"/>
  <p:tag name="ORIGINALHEIGHT" val="86,98914"/>
  <p:tag name="ORIGINALWIDTH" val="660,6674"/>
  <p:tag name="LATEXADDIN" val="\documentclass{article}&#10;\usepackage{amsmath}&#10;\pagestyle{empty}&#10;\begin{document}&#10;&#10;\textbf{arXiv link:}&#10;&#10;&#10;\end{document}"/>
  <p:tag name="IGUANATEXSIZE" val="20"/>
  <p:tag name="IGUANATEXCURSOR" val="100"/>
  <p:tag name="TRANSPARENCY" val="Wahr"/>
  <p:tag name="LATEXENGINEID" val="0"/>
  <p:tag name="TEMPFOLDER" val="c:\temp\"/>
  <p:tag name="LATEXFORMHEIGHT" val="312"/>
  <p:tag name="LATEXFORMWIDTH" val="384"/>
  <p:tag name="LATEXFORMWRAP" val="Wahr"/>
  <p:tag name="BITMAPVECTOR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</TotalTime>
  <Words>142</Words>
  <Application>Microsoft Office PowerPoint</Application>
  <PresentationFormat>Widescreen</PresentationFormat>
  <Paragraphs>49</Paragraphs>
  <Slides>19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Narrow</vt:lpstr>
      <vt:lpstr>Calibri</vt:lpstr>
      <vt:lpstr>Calibri Light</vt:lpstr>
      <vt:lpstr>Cambria Math</vt:lpstr>
      <vt:lpstr>Office Theme</vt:lpstr>
      <vt:lpstr>Acrobat Document</vt:lpstr>
      <vt:lpstr>node2vec random walks: Regular graphs and recurrence</vt:lpstr>
      <vt:lpstr>Collaborators</vt:lpstr>
      <vt:lpstr>node2vec random walks</vt:lpstr>
      <vt:lpstr>node2vec random walks</vt:lpstr>
      <vt:lpstr>node2vec random walks</vt:lpstr>
      <vt:lpstr>node2vec random walks</vt:lpstr>
      <vt:lpstr>node2vec random walks</vt:lpstr>
      <vt:lpstr>Motivation: node2vec algorithm</vt:lpstr>
      <vt:lpstr>node2vec: A markov chain?</vt:lpstr>
      <vt:lpstr>The wedge space</vt:lpstr>
      <vt:lpstr>The wedge space</vt:lpstr>
      <vt:lpstr>The wedge space</vt:lpstr>
      <vt:lpstr>Regular graphs</vt:lpstr>
      <vt:lpstr>Regular graphs</vt:lpstr>
      <vt:lpstr>Regular graphs</vt:lpstr>
      <vt:lpstr>Regular graphs</vt:lpstr>
      <vt:lpstr>Recurrence of node2vec random walks</vt:lpstr>
      <vt:lpstr>Recurrence of node2vec random walks</vt:lpstr>
      <vt:lpstr>Recurrence of node2vec random walks</vt:lpstr>
    </vt:vector>
  </TitlesOfParts>
  <Company>University of Twente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node2vec random walks on graphs</dc:title>
  <dc:creator>Schroeder, Lars (UT-EEMCS)</dc:creator>
  <cp:lastModifiedBy>Schroeder, Lars (UT-EEMCS)</cp:lastModifiedBy>
  <cp:revision>13</cp:revision>
  <dcterms:created xsi:type="dcterms:W3CDTF">2024-04-11T13:37:57Z</dcterms:created>
  <dcterms:modified xsi:type="dcterms:W3CDTF">2026-05-18T09:09:43Z</dcterms:modified>
</cp:coreProperties>
</file>